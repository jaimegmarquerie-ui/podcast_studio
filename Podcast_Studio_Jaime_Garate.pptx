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7C29FE-7DC5-4A4E-B533-D72E21E0145F}" v="1" dt="2026-10-20T13:23:43.8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me Gárate Marqueríe" userId="599b6191d0222e5f" providerId="LiveId" clId="{0F2CC7D6-A0FD-4A96-BA44-E151B5584B5B}"/>
    <pc:docChg chg="modSld">
      <pc:chgData name="Jaime Gárate Marqueríe" userId="599b6191d0222e5f" providerId="LiveId" clId="{0F2CC7D6-A0FD-4A96-BA44-E151B5584B5B}" dt="2026-10-20T13:23:49.671" v="2"/>
      <pc:docMkLst>
        <pc:docMk/>
      </pc:docMkLst>
      <pc:sldChg chg="addSp delSp modSp mod">
        <pc:chgData name="Jaime Gárate Marqueríe" userId="599b6191d0222e5f" providerId="LiveId" clId="{0F2CC7D6-A0FD-4A96-BA44-E151B5584B5B}" dt="2026-10-20T13:23:49.671" v="2"/>
        <pc:sldMkLst>
          <pc:docMk/>
          <pc:sldMk cId="0" sldId="256"/>
        </pc:sldMkLst>
        <pc:spChg chg="add del mod">
          <ac:chgData name="Jaime Gárate Marqueríe" userId="599b6191d0222e5f" providerId="LiveId" clId="{0F2CC7D6-A0FD-4A96-BA44-E151B5584B5B}" dt="2026-10-20T13:23:49.671" v="2"/>
          <ac:spMkLst>
            <pc:docMk/>
            <pc:sldMk cId="0" sldId="256"/>
            <ac:spMk id="16" creationId="{BFF2CCAB-40BD-0121-6CFE-D595061A823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7430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(about 40 seconds). Hello everyone. My name is Jaime Gárate, and I am a student in the Ironhack AI Consulting bootcamp. Today I will present Podcast Studio, my Project 1. It is a web application written in Python: you paste a text, you choose a voice and a style, and you get a short podcast episode. I will explain the problem it solves, how it works, and then I will run it live.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(about 50 seconds). Many people don’t read because they don’t know what to read. Which book might I like? Where do I start? Reading a long review to decide takes time and effort. Podcast Studio serves those readers. It takes a written text, for example a book sheet or a review, and turns it into an episode of two to five minutes, with a voice and a tone that fit the content. So you get a taste before you decide. To test it, I created a fictional podcast called One Week, One Book. Episode 1 is about Death and the Gardener, by Georgi Gospodinov.</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WORKS AND TECHNICAL CHOICES (about 1 minute 10 seconds). The whole app is three functions, called in order inside a function named run_pipeline. First, the sources. The app accepts pasted text and text-based .txt, .md and .pdf files. parse_sheet cleans whichever one arrives and returns a Python dictionary with three keys: metadata, text and word_count. Second, generate_script sends that dictionary and the chosen style to a Gemini model, which writes the podcast script. The prompt tells the model to use only the information in the text, so it does not invent facts. Third, generate_audio converts the script to speech with Gemini text-to-speech, using one of nine voices. If that service fails, it tries two backup services, and it returns which voice was really used. Each step lives in its own module, and Gradio ties them into one page. I used one provider, Gemini, for the script and the voice, with a single API key.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(about 2 minutes 30 seconds). Switch to the browser with the app open at 127.0.0.1:7860. Step 1: the text is already loaded, but I can paste another one or upload a .txt, .md or .pdf file. Step 2: I choose the Sulafat voice, described as warm, and the Reflective and literary style, because this text is about grief and memory. Step 3: I press Generate podcast; it takes one to three minutes. While it works, come back to this slide: the button is connected to run_pipeline with generate_btn.click. It takes the three input boxes, text, voice and style, and fills the three output boxes: script, audio and status. Step 4: play 15 to 20 seconds of the audio from the app, and show the Status line and the script. Then show the error handling: clear the text and press Generate; the except block returns the message Input problem instead of crashing the app. PLAN B if the internet fails: in slide show mode, click the speaker icon at the bottom of this slide to play a 35-second excerpt of the example episode, and talk through the steps. If the speaker does not play, open the file clip_podcast_35s.mp3 from the same folder.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TAKEAWAYS (about 50 seconds). What I learned: test each step on its own before joining them; services can fail, so a good pipeline has backups; match the voice and the tone to the content; and small, clear commits tell the story of a project. What I delivered: a working app that goes from text to audio in one click, with clear messages instead of crashes, nine automatic tests and ten commits, in a public GitHub repository with a README in English and Spanish, and an example audio. Thank you very much. I am happy to answer your questions.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230"/>
        </a:solidFill>
        <a:effectLst/>
      </p:bgPr>
    </p:bg>
    <p:spTree>
      <p:nvGrpSpPr>
        <p:cNvPr id="1" name=""/>
        <p:cNvGrpSpPr/>
        <p:nvPr/>
      </p:nvGrpSpPr>
      <p:grpSpPr>
        <a:xfrm>
          <a:off x="0" y="0"/>
          <a:ext cx="0" cy="0"/>
          <a:chOff x="0" y="0"/>
          <a:chExt cx="0" cy="0"/>
        </a:xfrm>
      </p:grpSpPr>
      <p:sp>
        <p:nvSpPr>
          <p:cNvPr id="2" name="Glow"/>
          <p:cNvSpPr/>
          <p:nvPr/>
        </p:nvSpPr>
        <p:spPr>
          <a:xfrm>
            <a:off x="5577840" y="1005840"/>
            <a:ext cx="3291840" cy="3291840"/>
          </a:xfrm>
          <a:prstGeom prst="ellipse">
            <a:avLst/>
          </a:prstGeom>
          <a:solidFill>
            <a:srgbClr val="E8A640">
              <a:alpha val="15000"/>
            </a:srgbClr>
          </a:solidFill>
          <a:ln/>
        </p:spPr>
        <p:txBody>
          <a:bodyPr/>
          <a:lstStyle/>
          <a:p>
            <a:endParaRPr lang="es-ES"/>
          </a:p>
        </p:txBody>
      </p:sp>
      <p:sp>
        <p:nvSpPr>
          <p:cNvPr id="3" name="Sound bar 1"/>
          <p:cNvSpPr/>
          <p:nvPr/>
        </p:nvSpPr>
        <p:spPr>
          <a:xfrm>
            <a:off x="5897880" y="2331720"/>
            <a:ext cx="182880" cy="640080"/>
          </a:xfrm>
          <a:prstGeom prst="roundRect">
            <a:avLst>
              <a:gd name="adj" fmla="val 50000"/>
            </a:avLst>
          </a:prstGeom>
          <a:solidFill>
            <a:srgbClr val="E8A640"/>
          </a:solidFill>
          <a:ln/>
        </p:spPr>
        <p:txBody>
          <a:bodyPr/>
          <a:lstStyle/>
          <a:p>
            <a:endParaRPr lang="es-ES"/>
          </a:p>
        </p:txBody>
      </p:sp>
      <p:sp>
        <p:nvSpPr>
          <p:cNvPr id="4" name="Sound bar 2"/>
          <p:cNvSpPr/>
          <p:nvPr/>
        </p:nvSpPr>
        <p:spPr>
          <a:xfrm>
            <a:off x="6217920" y="2011680"/>
            <a:ext cx="182880" cy="1280160"/>
          </a:xfrm>
          <a:prstGeom prst="roundRect">
            <a:avLst>
              <a:gd name="adj" fmla="val 50000"/>
            </a:avLst>
          </a:prstGeom>
          <a:solidFill>
            <a:srgbClr val="E8A640"/>
          </a:solidFill>
          <a:ln/>
        </p:spPr>
        <p:txBody>
          <a:bodyPr/>
          <a:lstStyle/>
          <a:p>
            <a:endParaRPr lang="es-ES"/>
          </a:p>
        </p:txBody>
      </p:sp>
      <p:sp>
        <p:nvSpPr>
          <p:cNvPr id="5" name="Sound bar 3"/>
          <p:cNvSpPr/>
          <p:nvPr/>
        </p:nvSpPr>
        <p:spPr>
          <a:xfrm>
            <a:off x="6537960" y="1691640"/>
            <a:ext cx="182880" cy="1920240"/>
          </a:xfrm>
          <a:prstGeom prst="roundRect">
            <a:avLst>
              <a:gd name="adj" fmla="val 50000"/>
            </a:avLst>
          </a:prstGeom>
          <a:solidFill>
            <a:srgbClr val="E8A640"/>
          </a:solidFill>
          <a:ln/>
        </p:spPr>
        <p:txBody>
          <a:bodyPr/>
          <a:lstStyle/>
          <a:p>
            <a:endParaRPr lang="es-ES"/>
          </a:p>
        </p:txBody>
      </p:sp>
      <p:sp>
        <p:nvSpPr>
          <p:cNvPr id="6" name="Sound bar 4"/>
          <p:cNvSpPr/>
          <p:nvPr/>
        </p:nvSpPr>
        <p:spPr>
          <a:xfrm>
            <a:off x="6858000" y="2103120"/>
            <a:ext cx="182880" cy="1097280"/>
          </a:xfrm>
          <a:prstGeom prst="roundRect">
            <a:avLst>
              <a:gd name="adj" fmla="val 50000"/>
            </a:avLst>
          </a:prstGeom>
          <a:solidFill>
            <a:srgbClr val="E8A640"/>
          </a:solidFill>
          <a:ln/>
        </p:spPr>
        <p:txBody>
          <a:bodyPr/>
          <a:lstStyle/>
          <a:p>
            <a:endParaRPr lang="es-ES"/>
          </a:p>
        </p:txBody>
      </p:sp>
      <p:sp>
        <p:nvSpPr>
          <p:cNvPr id="7" name="Sound bar 5"/>
          <p:cNvSpPr/>
          <p:nvPr/>
        </p:nvSpPr>
        <p:spPr>
          <a:xfrm>
            <a:off x="7178040" y="1463040"/>
            <a:ext cx="182880" cy="2377440"/>
          </a:xfrm>
          <a:prstGeom prst="roundRect">
            <a:avLst>
              <a:gd name="adj" fmla="val 50000"/>
            </a:avLst>
          </a:prstGeom>
          <a:solidFill>
            <a:srgbClr val="E8A640"/>
          </a:solidFill>
          <a:ln/>
        </p:spPr>
        <p:txBody>
          <a:bodyPr/>
          <a:lstStyle/>
          <a:p>
            <a:endParaRPr lang="es-ES"/>
          </a:p>
        </p:txBody>
      </p:sp>
      <p:sp>
        <p:nvSpPr>
          <p:cNvPr id="8" name="Sound bar 6"/>
          <p:cNvSpPr/>
          <p:nvPr/>
        </p:nvSpPr>
        <p:spPr>
          <a:xfrm>
            <a:off x="7498080" y="1874520"/>
            <a:ext cx="182880" cy="1554480"/>
          </a:xfrm>
          <a:prstGeom prst="roundRect">
            <a:avLst>
              <a:gd name="adj" fmla="val 50000"/>
            </a:avLst>
          </a:prstGeom>
          <a:solidFill>
            <a:srgbClr val="E8A640"/>
          </a:solidFill>
          <a:ln/>
        </p:spPr>
        <p:txBody>
          <a:bodyPr/>
          <a:lstStyle/>
          <a:p>
            <a:endParaRPr lang="es-ES"/>
          </a:p>
        </p:txBody>
      </p:sp>
      <p:sp>
        <p:nvSpPr>
          <p:cNvPr id="9" name="Sound bar 7"/>
          <p:cNvSpPr/>
          <p:nvPr/>
        </p:nvSpPr>
        <p:spPr>
          <a:xfrm>
            <a:off x="7818120" y="2194560"/>
            <a:ext cx="182880" cy="914400"/>
          </a:xfrm>
          <a:prstGeom prst="roundRect">
            <a:avLst>
              <a:gd name="adj" fmla="val 50000"/>
            </a:avLst>
          </a:prstGeom>
          <a:solidFill>
            <a:srgbClr val="E8A640"/>
          </a:solidFill>
          <a:ln/>
        </p:spPr>
        <p:txBody>
          <a:bodyPr/>
          <a:lstStyle/>
          <a:p>
            <a:endParaRPr lang="es-ES"/>
          </a:p>
        </p:txBody>
      </p:sp>
      <p:sp>
        <p:nvSpPr>
          <p:cNvPr id="10" name="Sound bar 8"/>
          <p:cNvSpPr/>
          <p:nvPr/>
        </p:nvSpPr>
        <p:spPr>
          <a:xfrm>
            <a:off x="8138160" y="1783080"/>
            <a:ext cx="182880" cy="1737360"/>
          </a:xfrm>
          <a:prstGeom prst="roundRect">
            <a:avLst>
              <a:gd name="adj" fmla="val 50000"/>
            </a:avLst>
          </a:prstGeom>
          <a:solidFill>
            <a:srgbClr val="E8A640"/>
          </a:solidFill>
          <a:ln/>
        </p:spPr>
        <p:txBody>
          <a:bodyPr/>
          <a:lstStyle/>
          <a:p>
            <a:endParaRPr lang="es-ES"/>
          </a:p>
        </p:txBody>
      </p:sp>
      <p:sp>
        <p:nvSpPr>
          <p:cNvPr id="11" name="Sound bar 9"/>
          <p:cNvSpPr/>
          <p:nvPr/>
        </p:nvSpPr>
        <p:spPr>
          <a:xfrm>
            <a:off x="8458200" y="2377440"/>
            <a:ext cx="182880" cy="548640"/>
          </a:xfrm>
          <a:prstGeom prst="roundRect">
            <a:avLst>
              <a:gd name="adj" fmla="val 50000"/>
            </a:avLst>
          </a:prstGeom>
          <a:solidFill>
            <a:srgbClr val="E8A640"/>
          </a:solidFill>
          <a:ln/>
        </p:spPr>
        <p:txBody>
          <a:bodyPr/>
          <a:lstStyle/>
          <a:p>
            <a:endParaRPr lang="es-ES"/>
          </a:p>
        </p:txBody>
      </p:sp>
      <p:sp>
        <p:nvSpPr>
          <p:cNvPr id="12" name="Text 10"/>
          <p:cNvSpPr txBox="1"/>
          <p:nvPr/>
        </p:nvSpPr>
        <p:spPr>
          <a:xfrm>
            <a:off x="548640" y="822960"/>
            <a:ext cx="4937760" cy="274320"/>
          </a:xfrm>
          <a:prstGeom prst="rect">
            <a:avLst/>
          </a:prstGeom>
          <a:noFill/>
          <a:ln/>
        </p:spPr>
        <p:txBody>
          <a:bodyPr wrap="square" lIns="0" tIns="0" rIns="0" bIns="0" rtlCol="0" anchor="ctr"/>
          <a:lstStyle/>
          <a:p>
            <a:pPr marL="0" indent="0">
              <a:buNone/>
            </a:pPr>
            <a:r>
              <a:rPr lang="en-US" sz="1200" b="1" kern="0" spc="300" dirty="0">
                <a:solidFill>
                  <a:srgbClr val="E8A640"/>
                </a:solidFill>
                <a:latin typeface="Calibri" pitchFamily="34" charset="0"/>
                <a:ea typeface="Calibri" pitchFamily="34" charset="-122"/>
                <a:cs typeface="Calibri" pitchFamily="34" charset="-120"/>
              </a:rPr>
              <a:t>IRONHACK AI CONSULTING · PROJECT 1</a:t>
            </a:r>
            <a:endParaRPr lang="en-US" sz="1200" dirty="0"/>
          </a:p>
        </p:txBody>
      </p:sp>
      <p:sp>
        <p:nvSpPr>
          <p:cNvPr id="13" name="Title"/>
          <p:cNvSpPr txBox="1"/>
          <p:nvPr/>
        </p:nvSpPr>
        <p:spPr>
          <a:xfrm>
            <a:off x="548640" y="1188720"/>
            <a:ext cx="5029200" cy="914400"/>
          </a:xfrm>
          <a:prstGeom prst="rect">
            <a:avLst/>
          </a:prstGeom>
          <a:noFill/>
          <a:ln/>
        </p:spPr>
        <p:txBody>
          <a:bodyPr wrap="square" lIns="0" tIns="0" rIns="0" bIns="0" rtlCol="0" anchor="ctr"/>
          <a:lstStyle/>
          <a:p>
            <a:pPr marL="0" indent="0">
              <a:buNone/>
            </a:pPr>
            <a:r>
              <a:rPr lang="en-US" sz="4800" b="1" dirty="0">
                <a:solidFill>
                  <a:srgbClr val="F3EBDD"/>
                </a:solidFill>
                <a:latin typeface="Cambria" pitchFamily="34" charset="0"/>
                <a:ea typeface="Cambria" pitchFamily="34" charset="-122"/>
                <a:cs typeface="Cambria" pitchFamily="34" charset="-120"/>
              </a:rPr>
              <a:t>Podcast Studio</a:t>
            </a:r>
            <a:endParaRPr lang="en-US" sz="4800" dirty="0"/>
          </a:p>
        </p:txBody>
      </p:sp>
      <p:sp>
        <p:nvSpPr>
          <p:cNvPr id="14" name="Text 12"/>
          <p:cNvSpPr txBox="1"/>
          <p:nvPr/>
        </p:nvSpPr>
        <p:spPr>
          <a:xfrm>
            <a:off x="548640" y="2240280"/>
            <a:ext cx="4754880" cy="731520"/>
          </a:xfrm>
          <a:prstGeom prst="rect">
            <a:avLst/>
          </a:prstGeom>
          <a:noFill/>
          <a:ln/>
        </p:spPr>
        <p:txBody>
          <a:bodyPr wrap="square" lIns="0" tIns="0" rIns="0" bIns="0" rtlCol="0" anchor="t"/>
          <a:lstStyle/>
          <a:p>
            <a:pPr marL="0" indent="0">
              <a:buNone/>
            </a:pPr>
            <a:r>
              <a:rPr lang="en-US" sz="2000" dirty="0">
                <a:solidFill>
                  <a:srgbClr val="C9C2D0"/>
                </a:solidFill>
                <a:latin typeface="Calibri" pitchFamily="34" charset="0"/>
                <a:ea typeface="Calibri" pitchFamily="34" charset="-122"/>
                <a:cs typeface="Calibri" pitchFamily="34" charset="-120"/>
              </a:rPr>
              <a:t>Turn any written text into a short podcast with AI.</a:t>
            </a:r>
            <a:endParaRPr lang="en-US" sz="2000" dirty="0"/>
          </a:p>
        </p:txBody>
      </p:sp>
      <p:sp>
        <p:nvSpPr>
          <p:cNvPr id="15" name="Who and what"/>
          <p:cNvSpPr txBox="1"/>
          <p:nvPr/>
        </p:nvSpPr>
        <p:spPr>
          <a:xfrm>
            <a:off x="548640" y="3291840"/>
            <a:ext cx="4846320" cy="1280160"/>
          </a:xfrm>
          <a:prstGeom prst="rect">
            <a:avLst/>
          </a:prstGeom>
          <a:noFill/>
          <a:ln/>
        </p:spPr>
        <p:txBody>
          <a:bodyPr wrap="square" lIns="0" tIns="0" rIns="0" bIns="0" rtlCol="0" anchor="t"/>
          <a:lstStyle/>
          <a:p>
            <a:pPr marL="0" indent="0">
              <a:spcAft>
                <a:spcPts val="600"/>
              </a:spcAft>
              <a:buNone/>
            </a:pPr>
            <a:r>
              <a:rPr lang="en-US" sz="1400" b="1" dirty="0">
                <a:solidFill>
                  <a:srgbClr val="F3EBDD"/>
                </a:solidFill>
                <a:latin typeface="Calibri" pitchFamily="34" charset="0"/>
                <a:ea typeface="Calibri" pitchFamily="34" charset="-122"/>
                <a:cs typeface="Calibri" pitchFamily="34" charset="-120"/>
              </a:rPr>
              <a:t>Who I am: </a:t>
            </a:r>
            <a:r>
              <a:rPr lang="en-US" sz="1400" dirty="0">
                <a:solidFill>
                  <a:srgbClr val="F3EBDD"/>
                </a:solidFill>
                <a:latin typeface="Calibri" pitchFamily="34" charset="0"/>
                <a:ea typeface="Calibri" pitchFamily="34" charset="-122"/>
                <a:cs typeface="Calibri" pitchFamily="34" charset="-120"/>
              </a:rPr>
              <a:t>Jaime Gárate, student of the Ironhack AI Consulting bootcamp</a:t>
            </a:r>
            <a:endParaRPr lang="en-US" sz="1400" dirty="0"/>
          </a:p>
          <a:p>
            <a:pPr marL="0" indent="0">
              <a:spcAft>
                <a:spcPts val="600"/>
              </a:spcAft>
              <a:buNone/>
            </a:pPr>
            <a:r>
              <a:rPr lang="en-US" sz="1400" b="1" dirty="0">
                <a:solidFill>
                  <a:srgbClr val="F3EBDD"/>
                </a:solidFill>
                <a:latin typeface="Calibri" pitchFamily="34" charset="0"/>
                <a:ea typeface="Calibri" pitchFamily="34" charset="-122"/>
                <a:cs typeface="Calibri" pitchFamily="34" charset="-120"/>
              </a:rPr>
              <a:t>What I built: </a:t>
            </a:r>
            <a:r>
              <a:rPr lang="en-US" sz="1400" dirty="0">
                <a:solidFill>
                  <a:srgbClr val="F3EBDD"/>
                </a:solidFill>
                <a:latin typeface="Calibri" pitchFamily="34" charset="0"/>
                <a:ea typeface="Calibri" pitchFamily="34" charset="-122"/>
                <a:cs typeface="Calibri" pitchFamily="34" charset="-120"/>
              </a:rPr>
              <a:t>a web app in Python: paste a text, choose a voice and a style, and listen to the episode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5EA"/>
        </a:solidFill>
        <a:effectLst/>
      </p:bgPr>
    </p:bg>
    <p:spTree>
      <p:nvGrpSpPr>
        <p:cNvPr id="1" name=""/>
        <p:cNvGrpSpPr/>
        <p:nvPr/>
      </p:nvGrpSpPr>
      <p:grpSpPr>
        <a:xfrm>
          <a:off x="0" y="0"/>
          <a:ext cx="0" cy="0"/>
          <a:chOff x="0" y="0"/>
          <a:chExt cx="0" cy="0"/>
        </a:xfrm>
      </p:grpSpPr>
      <p:sp>
        <p:nvSpPr>
          <p:cNvPr id="2" name="Eyebrow"/>
          <p:cNvSpPr txBox="1"/>
          <p:nvPr/>
        </p:nvSpPr>
        <p:spPr>
          <a:xfrm>
            <a:off x="457200" y="365760"/>
            <a:ext cx="5486400" cy="274320"/>
          </a:xfrm>
          <a:prstGeom prst="rect">
            <a:avLst/>
          </a:prstGeom>
          <a:noFill/>
          <a:ln/>
        </p:spPr>
        <p:txBody>
          <a:bodyPr wrap="square" lIns="0" tIns="0" rIns="0" bIns="0" rtlCol="0" anchor="ctr"/>
          <a:lstStyle/>
          <a:p>
            <a:pPr marL="0" indent="0">
              <a:buNone/>
            </a:pPr>
            <a:r>
              <a:rPr lang="en-US" sz="1200" b="1" kern="0" spc="300" dirty="0">
                <a:solidFill>
                  <a:srgbClr val="9A4F12"/>
                </a:solidFill>
                <a:latin typeface="Calibri" pitchFamily="34" charset="0"/>
                <a:ea typeface="Calibri" pitchFamily="34" charset="-122"/>
                <a:cs typeface="Calibri" pitchFamily="34" charset="-120"/>
              </a:rPr>
              <a:t>THE PROBLEM</a:t>
            </a:r>
            <a:endParaRPr lang="en-US" sz="1200" dirty="0"/>
          </a:p>
        </p:txBody>
      </p:sp>
      <p:sp>
        <p:nvSpPr>
          <p:cNvPr id="3" name="Title"/>
          <p:cNvSpPr txBox="1"/>
          <p:nvPr/>
        </p:nvSpPr>
        <p:spPr>
          <a:xfrm>
            <a:off x="457200" y="685800"/>
            <a:ext cx="8229600" cy="822960"/>
          </a:xfrm>
          <a:prstGeom prst="rect">
            <a:avLst/>
          </a:prstGeom>
          <a:noFill/>
          <a:ln/>
        </p:spPr>
        <p:txBody>
          <a:bodyPr wrap="square" lIns="0" tIns="0" rIns="0" bIns="0" rtlCol="0" anchor="t"/>
          <a:lstStyle/>
          <a:p>
            <a:pPr marL="0" indent="0">
              <a:buNone/>
            </a:pPr>
            <a:r>
              <a:rPr lang="en-US" sz="3000" b="1" dirty="0">
                <a:solidFill>
                  <a:srgbClr val="1E2230"/>
                </a:solidFill>
                <a:latin typeface="Cambria" pitchFamily="34" charset="0"/>
                <a:ea typeface="Cambria" pitchFamily="34" charset="-122"/>
                <a:cs typeface="Cambria" pitchFamily="34" charset="-120"/>
              </a:rPr>
              <a:t>Many people don’t read because they don’t know what to read</a:t>
            </a:r>
            <a:endParaRPr lang="en-US" sz="3000" dirty="0"/>
          </a:p>
        </p:txBody>
      </p:sp>
      <p:sp>
        <p:nvSpPr>
          <p:cNvPr id="4" name="Need card"/>
          <p:cNvSpPr/>
          <p:nvPr/>
        </p:nvSpPr>
        <p:spPr>
          <a:xfrm>
            <a:off x="457200" y="1783080"/>
            <a:ext cx="4023360" cy="1691640"/>
          </a:xfrm>
          <a:prstGeom prst="roundRect">
            <a:avLst>
              <a:gd name="adj" fmla="val 6486"/>
            </a:avLst>
          </a:prstGeom>
          <a:solidFill>
            <a:srgbClr val="FFFFFF"/>
          </a:solidFill>
          <a:ln w="19050">
            <a:solidFill>
              <a:srgbClr val="E6D9C3"/>
            </a:solidFill>
            <a:prstDash val="solid"/>
          </a:ln>
        </p:spPr>
        <p:txBody>
          <a:bodyPr/>
          <a:lstStyle/>
          <a:p>
            <a:endParaRPr lang="es-ES"/>
          </a:p>
        </p:txBody>
      </p:sp>
      <p:sp>
        <p:nvSpPr>
          <p:cNvPr id="5" name="Text 3"/>
          <p:cNvSpPr txBox="1"/>
          <p:nvPr/>
        </p:nvSpPr>
        <p:spPr>
          <a:xfrm>
            <a:off x="640080" y="1874520"/>
            <a:ext cx="3657600" cy="1508760"/>
          </a:xfrm>
          <a:prstGeom prst="rect">
            <a:avLst/>
          </a:prstGeom>
          <a:noFill/>
          <a:ln/>
        </p:spPr>
        <p:txBody>
          <a:bodyPr wrap="square" lIns="0" tIns="0" rIns="0" bIns="0" rtlCol="0" anchor="t"/>
          <a:lstStyle/>
          <a:p>
            <a:pPr marL="0" indent="0">
              <a:spcAft>
                <a:spcPts val="600"/>
              </a:spcAft>
              <a:buNone/>
            </a:pPr>
            <a:r>
              <a:rPr lang="en-US" sz="1800" b="1" dirty="0">
                <a:solidFill>
                  <a:srgbClr val="9A4F12"/>
                </a:solidFill>
                <a:latin typeface="Calibri" pitchFamily="34" charset="0"/>
                <a:ea typeface="Calibri" pitchFamily="34" charset="-122"/>
                <a:cs typeface="Calibri" pitchFamily="34" charset="-120"/>
              </a:rPr>
              <a:t>The need</a:t>
            </a:r>
            <a:endParaRPr lang="en-US" sz="1800" dirty="0"/>
          </a:p>
          <a:p>
            <a:pPr marL="0" indent="0">
              <a:spcAft>
                <a:spcPts val="600"/>
              </a:spcAft>
              <a:buNone/>
            </a:pPr>
            <a:r>
              <a:rPr lang="en-US" sz="1500" dirty="0">
                <a:solidFill>
                  <a:srgbClr val="1E2230"/>
                </a:solidFill>
                <a:latin typeface="Calibri" pitchFamily="34" charset="0"/>
                <a:ea typeface="Calibri" pitchFamily="34" charset="-122"/>
                <a:cs typeface="Calibri" pitchFamily="34" charset="-120"/>
              </a:rPr>
              <a:t>Which book might I like? Where do I start? Reading a long review to decide takes time and effort.</a:t>
            </a:r>
            <a:endParaRPr lang="en-US" sz="1800" dirty="0"/>
          </a:p>
        </p:txBody>
      </p:sp>
      <p:sp>
        <p:nvSpPr>
          <p:cNvPr id="6" name="Solution card"/>
          <p:cNvSpPr/>
          <p:nvPr/>
        </p:nvSpPr>
        <p:spPr>
          <a:xfrm>
            <a:off x="4663440" y="1783080"/>
            <a:ext cx="4023360" cy="1691640"/>
          </a:xfrm>
          <a:prstGeom prst="roundRect">
            <a:avLst>
              <a:gd name="adj" fmla="val 6486"/>
            </a:avLst>
          </a:prstGeom>
          <a:solidFill>
            <a:srgbClr val="1E2230"/>
          </a:solidFill>
          <a:ln/>
        </p:spPr>
        <p:txBody>
          <a:bodyPr/>
          <a:lstStyle/>
          <a:p>
            <a:endParaRPr lang="es-ES"/>
          </a:p>
        </p:txBody>
      </p:sp>
      <p:sp>
        <p:nvSpPr>
          <p:cNvPr id="7" name="Text 5"/>
          <p:cNvSpPr txBox="1"/>
          <p:nvPr/>
        </p:nvSpPr>
        <p:spPr>
          <a:xfrm>
            <a:off x="4846320" y="1874520"/>
            <a:ext cx="3657600" cy="1508760"/>
          </a:xfrm>
          <a:prstGeom prst="rect">
            <a:avLst/>
          </a:prstGeom>
          <a:noFill/>
          <a:ln/>
        </p:spPr>
        <p:txBody>
          <a:bodyPr wrap="square" lIns="0" tIns="0" rIns="0" bIns="0" rtlCol="0" anchor="t"/>
          <a:lstStyle/>
          <a:p>
            <a:pPr marL="0" indent="0">
              <a:spcAft>
                <a:spcPts val="600"/>
              </a:spcAft>
              <a:buNone/>
            </a:pPr>
            <a:r>
              <a:rPr lang="en-US" sz="1800" b="1" dirty="0">
                <a:solidFill>
                  <a:srgbClr val="E8A640"/>
                </a:solidFill>
                <a:latin typeface="Calibri" pitchFamily="34" charset="0"/>
                <a:ea typeface="Calibri" pitchFamily="34" charset="-122"/>
                <a:cs typeface="Calibri" pitchFamily="34" charset="-120"/>
              </a:rPr>
              <a:t>The solution</a:t>
            </a:r>
            <a:endParaRPr lang="en-US" sz="1800" dirty="0"/>
          </a:p>
          <a:p>
            <a:pPr marL="0" indent="0">
              <a:spcAft>
                <a:spcPts val="600"/>
              </a:spcAft>
              <a:buNone/>
            </a:pPr>
            <a:r>
              <a:rPr lang="en-US" sz="1500" dirty="0">
                <a:solidFill>
                  <a:srgbClr val="F3EBDD"/>
                </a:solidFill>
                <a:latin typeface="Calibri" pitchFamily="34" charset="0"/>
                <a:ea typeface="Calibri" pitchFamily="34" charset="-122"/>
                <a:cs typeface="Calibri" pitchFamily="34" charset="-120"/>
              </a:rPr>
              <a:t>Podcast Studio turns a written text into a 2 to 5 minute episode, with a voice and a tone that fit the content.</a:t>
            </a:r>
            <a:endParaRPr lang="en-US" sz="1800" dirty="0"/>
          </a:p>
        </p:txBody>
      </p:sp>
      <p:sp>
        <p:nvSpPr>
          <p:cNvPr id="8" name="Test case strip"/>
          <p:cNvSpPr/>
          <p:nvPr/>
        </p:nvSpPr>
        <p:spPr>
          <a:xfrm>
            <a:off x="457200" y="3749040"/>
            <a:ext cx="8229600" cy="731520"/>
          </a:xfrm>
          <a:prstGeom prst="roundRect">
            <a:avLst>
              <a:gd name="adj" fmla="val 15000"/>
            </a:avLst>
          </a:prstGeom>
          <a:solidFill>
            <a:srgbClr val="F1E4CC"/>
          </a:solidFill>
          <a:ln/>
        </p:spPr>
        <p:txBody>
          <a:bodyPr/>
          <a:lstStyle/>
          <a:p>
            <a:endParaRPr lang="es-ES"/>
          </a:p>
        </p:txBody>
      </p:sp>
      <p:sp>
        <p:nvSpPr>
          <p:cNvPr id="9" name="Text 7"/>
          <p:cNvSpPr txBox="1"/>
          <p:nvPr/>
        </p:nvSpPr>
        <p:spPr>
          <a:xfrm>
            <a:off x="685800" y="3749040"/>
            <a:ext cx="7772400" cy="731520"/>
          </a:xfrm>
          <a:prstGeom prst="rect">
            <a:avLst/>
          </a:prstGeom>
          <a:noFill/>
          <a:ln/>
        </p:spPr>
        <p:txBody>
          <a:bodyPr wrap="square" lIns="0" tIns="0" rIns="0" bIns="0" rtlCol="0" anchor="ctr"/>
          <a:lstStyle/>
          <a:p>
            <a:pPr marL="0" indent="0">
              <a:buNone/>
            </a:pPr>
            <a:r>
              <a:rPr lang="en-US" sz="1500" b="1" dirty="0">
                <a:solidFill>
                  <a:srgbClr val="1E2230"/>
                </a:solidFill>
                <a:latin typeface="Calibri" pitchFamily="34" charset="0"/>
                <a:ea typeface="Calibri" pitchFamily="34" charset="-122"/>
                <a:cs typeface="Calibri" pitchFamily="34" charset="-120"/>
              </a:rPr>
              <a:t>Test case: </a:t>
            </a:r>
            <a:r>
              <a:rPr lang="en-US" sz="1500" dirty="0">
                <a:solidFill>
                  <a:srgbClr val="1E2230"/>
                </a:solidFill>
                <a:latin typeface="Calibri" pitchFamily="34" charset="0"/>
                <a:ea typeface="Calibri" pitchFamily="34" charset="-122"/>
                <a:cs typeface="Calibri" pitchFamily="34" charset="-120"/>
              </a:rPr>
              <a:t>the podcast “One Week, One Book”, Episode 1: </a:t>
            </a:r>
            <a:r>
              <a:rPr lang="en-US" sz="1500" i="1" dirty="0">
                <a:solidFill>
                  <a:srgbClr val="1E2230"/>
                </a:solidFill>
                <a:latin typeface="Calibri" pitchFamily="34" charset="0"/>
                <a:ea typeface="Calibri" pitchFamily="34" charset="-122"/>
                <a:cs typeface="Calibri" pitchFamily="34" charset="-120"/>
              </a:rPr>
              <a:t>Death and the Gardener</a:t>
            </a:r>
            <a:r>
              <a:rPr lang="en-US" sz="1500" dirty="0">
                <a:solidFill>
                  <a:srgbClr val="1E2230"/>
                </a:solidFill>
                <a:latin typeface="Calibri" pitchFamily="34" charset="0"/>
                <a:ea typeface="Calibri" pitchFamily="34" charset="-122"/>
                <a:cs typeface="Calibri" pitchFamily="34" charset="-120"/>
              </a:rPr>
              <a:t> by Georgi Gospodinov</a:t>
            </a:r>
            <a:endParaRPr lang="en-US" sz="1500" dirty="0"/>
          </a:p>
        </p:txBody>
      </p:sp>
      <p:sp>
        <p:nvSpPr>
          <p:cNvPr id="10" name="Footer"/>
          <p:cNvSpPr txBox="1"/>
          <p:nvPr/>
        </p:nvSpPr>
        <p:spPr>
          <a:xfrm>
            <a:off x="457200" y="4709160"/>
            <a:ext cx="4572000" cy="274320"/>
          </a:xfrm>
          <a:prstGeom prst="rect">
            <a:avLst/>
          </a:prstGeom>
          <a:noFill/>
          <a:ln/>
        </p:spPr>
        <p:txBody>
          <a:bodyPr wrap="square" lIns="0" tIns="0" rIns="0" bIns="0" rtlCol="0" anchor="ctr"/>
          <a:lstStyle/>
          <a:p>
            <a:pPr marL="0" indent="0">
              <a:buNone/>
            </a:pPr>
            <a:r>
              <a:rPr lang="en-US" sz="1000" dirty="0">
                <a:solidFill>
                  <a:srgbClr val="4A4F5E"/>
                </a:solidFill>
                <a:latin typeface="Calibri" pitchFamily="34" charset="0"/>
                <a:ea typeface="Calibri" pitchFamily="34" charset="-122"/>
                <a:cs typeface="Calibri" pitchFamily="34" charset="-120"/>
              </a:rPr>
              <a:t>Podcast Studio · Jaime Gárate</a:t>
            </a:r>
            <a:endParaRPr lang="en-US" sz="1000" dirty="0"/>
          </a:p>
        </p:txBody>
      </p:sp>
      <p:sp>
        <p:nvSpPr>
          <p:cNvPr id="11" name="Page number"/>
          <p:cNvSpPr txBox="1"/>
          <p:nvPr/>
        </p:nvSpPr>
        <p:spPr>
          <a:xfrm>
            <a:off x="7772400" y="4709160"/>
            <a:ext cx="914400" cy="274320"/>
          </a:xfrm>
          <a:prstGeom prst="rect">
            <a:avLst/>
          </a:prstGeom>
          <a:noFill/>
          <a:ln/>
        </p:spPr>
        <p:txBody>
          <a:bodyPr wrap="square" lIns="0" tIns="0" rIns="0" bIns="0" rtlCol="0" anchor="ctr"/>
          <a:lstStyle/>
          <a:p>
            <a:pPr marL="0" indent="0" algn="r">
              <a:buNone/>
            </a:pPr>
            <a:r>
              <a:rPr lang="en-US" sz="1000" dirty="0">
                <a:solidFill>
                  <a:srgbClr val="4A4F5E"/>
                </a:solidFill>
                <a:latin typeface="Calibri" pitchFamily="34" charset="0"/>
                <a:ea typeface="Calibri" pitchFamily="34" charset="-122"/>
                <a:cs typeface="Calibri" pitchFamily="34" charset="-120"/>
              </a:rPr>
              <a:t>2 / 5</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230"/>
        </a:solidFill>
        <a:effectLst/>
      </p:bgPr>
    </p:bg>
    <p:spTree>
      <p:nvGrpSpPr>
        <p:cNvPr id="1" name=""/>
        <p:cNvGrpSpPr/>
        <p:nvPr/>
      </p:nvGrpSpPr>
      <p:grpSpPr>
        <a:xfrm>
          <a:off x="0" y="0"/>
          <a:ext cx="0" cy="0"/>
          <a:chOff x="0" y="0"/>
          <a:chExt cx="0" cy="0"/>
        </a:xfrm>
      </p:grpSpPr>
      <p:sp>
        <p:nvSpPr>
          <p:cNvPr id="2" name="Eyebrow"/>
          <p:cNvSpPr txBox="1"/>
          <p:nvPr/>
        </p:nvSpPr>
        <p:spPr>
          <a:xfrm>
            <a:off x="457200" y="365760"/>
            <a:ext cx="5486400" cy="274320"/>
          </a:xfrm>
          <a:prstGeom prst="rect">
            <a:avLst/>
          </a:prstGeom>
          <a:noFill/>
          <a:ln/>
        </p:spPr>
        <p:txBody>
          <a:bodyPr wrap="square" lIns="0" tIns="0" rIns="0" bIns="0" rtlCol="0" anchor="ctr"/>
          <a:lstStyle/>
          <a:p>
            <a:pPr marL="0" indent="0">
              <a:buNone/>
            </a:pPr>
            <a:r>
              <a:rPr lang="en-US" sz="1200" b="1" kern="0" spc="300" dirty="0">
                <a:solidFill>
                  <a:srgbClr val="E8A640"/>
                </a:solidFill>
                <a:latin typeface="Calibri" pitchFamily="34" charset="0"/>
                <a:ea typeface="Calibri" pitchFamily="34" charset="-122"/>
                <a:cs typeface="Calibri" pitchFamily="34" charset="-120"/>
              </a:rPr>
              <a:t>HOW IT WORKS</a:t>
            </a:r>
            <a:endParaRPr lang="en-US" sz="1200" dirty="0"/>
          </a:p>
        </p:txBody>
      </p:sp>
      <p:sp>
        <p:nvSpPr>
          <p:cNvPr id="3" name="Title"/>
          <p:cNvSpPr txBox="1"/>
          <p:nvPr/>
        </p:nvSpPr>
        <p:spPr>
          <a:xfrm>
            <a:off x="457200" y="685800"/>
            <a:ext cx="8229600" cy="822960"/>
          </a:xfrm>
          <a:prstGeom prst="rect">
            <a:avLst/>
          </a:prstGeom>
          <a:noFill/>
          <a:ln/>
        </p:spPr>
        <p:txBody>
          <a:bodyPr wrap="square" lIns="0" tIns="0" rIns="0" bIns="0" rtlCol="0" anchor="t"/>
          <a:lstStyle/>
          <a:p>
            <a:pPr marL="0" indent="0">
              <a:buNone/>
            </a:pPr>
            <a:r>
              <a:rPr lang="en-US" sz="3000" b="1" dirty="0">
                <a:solidFill>
                  <a:srgbClr val="F3EBDD"/>
                </a:solidFill>
                <a:latin typeface="Cambria" pitchFamily="34" charset="0"/>
                <a:ea typeface="Cambria" pitchFamily="34" charset="-122"/>
                <a:cs typeface="Cambria" pitchFamily="34" charset="-120"/>
              </a:rPr>
              <a:t>Text in, audio out: three functions</a:t>
            </a:r>
            <a:endParaRPr lang="en-US" sz="3000" dirty="0"/>
          </a:p>
        </p:txBody>
      </p:sp>
      <p:sp>
        <p:nvSpPr>
          <p:cNvPr id="4" name="Code panel"/>
          <p:cNvSpPr/>
          <p:nvPr/>
        </p:nvSpPr>
        <p:spPr>
          <a:xfrm>
            <a:off x="457200" y="1600200"/>
            <a:ext cx="4114800" cy="2148840"/>
          </a:xfrm>
          <a:prstGeom prst="roundRect">
            <a:avLst>
              <a:gd name="adj" fmla="val 5106"/>
            </a:avLst>
          </a:prstGeom>
          <a:solidFill>
            <a:srgbClr val="141824"/>
          </a:solidFill>
          <a:ln/>
        </p:spPr>
        <p:txBody>
          <a:bodyPr/>
          <a:lstStyle/>
          <a:p>
            <a:endParaRPr lang="es-ES"/>
          </a:p>
        </p:txBody>
      </p:sp>
      <p:sp>
        <p:nvSpPr>
          <p:cNvPr id="5" name="Text 3"/>
          <p:cNvSpPr txBox="1"/>
          <p:nvPr/>
        </p:nvSpPr>
        <p:spPr>
          <a:xfrm>
            <a:off x="685800" y="1737360"/>
            <a:ext cx="3657600" cy="228600"/>
          </a:xfrm>
          <a:prstGeom prst="rect">
            <a:avLst/>
          </a:prstGeom>
          <a:noFill/>
          <a:ln/>
        </p:spPr>
        <p:txBody>
          <a:bodyPr wrap="square" lIns="0" tIns="0" rIns="0" bIns="0" rtlCol="0" anchor="ctr"/>
          <a:lstStyle/>
          <a:p>
            <a:pPr marL="0" indent="0">
              <a:buNone/>
            </a:pPr>
            <a:r>
              <a:rPr lang="en-US" sz="1100" b="1" dirty="0">
                <a:solidFill>
                  <a:srgbClr val="E8A640"/>
                </a:solidFill>
                <a:latin typeface="Calibri" pitchFamily="34" charset="0"/>
                <a:ea typeface="Calibri" pitchFamily="34" charset="-122"/>
                <a:cs typeface="Calibri" pitchFamily="34" charset="-120"/>
              </a:rPr>
              <a:t>main.py · run_pipeline</a:t>
            </a:r>
            <a:endParaRPr lang="en-US" sz="1100" dirty="0"/>
          </a:p>
        </p:txBody>
      </p:sp>
      <p:sp>
        <p:nvSpPr>
          <p:cNvPr id="6" name="Code"/>
          <p:cNvSpPr txBox="1"/>
          <p:nvPr/>
        </p:nvSpPr>
        <p:spPr>
          <a:xfrm>
            <a:off x="685800" y="2103120"/>
            <a:ext cx="3749040" cy="1417320"/>
          </a:xfrm>
          <a:prstGeom prst="rect">
            <a:avLst/>
          </a:prstGeom>
          <a:noFill/>
          <a:ln/>
        </p:spPr>
        <p:txBody>
          <a:bodyPr wrap="square" lIns="0" tIns="0" rIns="0" bIns="0" rtlCol="0" anchor="t"/>
          <a:lstStyle/>
          <a:p>
            <a:pPr marL="0" indent="0">
              <a:buNone/>
            </a:pPr>
            <a:r>
              <a:rPr lang="en-US" sz="1300" dirty="0">
                <a:solidFill>
                  <a:srgbClr val="F3EBDD"/>
                </a:solidFill>
                <a:latin typeface="Courier New" pitchFamily="34" charset="0"/>
                <a:ea typeface="Courier New" pitchFamily="34" charset="-122"/>
                <a:cs typeface="Courier New" pitchFamily="34" charset="-120"/>
              </a:rPr>
              <a:t>sheet = parse_sheet(raw_text)</a:t>
            </a:r>
            <a:endParaRPr lang="en-US" sz="1300" dirty="0"/>
          </a:p>
          <a:p>
            <a:pPr marL="0" indent="0">
              <a:buNone/>
            </a:pPr>
            <a:r>
              <a:rPr lang="en-US" sz="1300" dirty="0">
                <a:solidFill>
                  <a:srgbClr val="F3EBDD"/>
                </a:solidFill>
                <a:latin typeface="Courier New" pitchFamily="34" charset="0"/>
                <a:ea typeface="Courier New" pitchFamily="34" charset="-122"/>
                <a:cs typeface="Courier New" pitchFamily="34" charset="-120"/>
              </a:rPr>
              <a:t>script = generate_script(</a:t>
            </a:r>
            <a:endParaRPr lang="en-US" sz="1300" dirty="0"/>
          </a:p>
          <a:p>
            <a:pPr marL="0" indent="0">
              <a:buNone/>
            </a:pPr>
            <a:r>
              <a:rPr lang="en-US" sz="1300" dirty="0">
                <a:solidFill>
                  <a:srgbClr val="F3EBDD"/>
                </a:solidFill>
                <a:latin typeface="Courier New" pitchFamily="34" charset="0"/>
                <a:ea typeface="Courier New" pitchFamily="34" charset="-122"/>
                <a:cs typeface="Courier New" pitchFamily="34" charset="-120"/>
              </a:rPr>
              <a:t>    sheet, style)</a:t>
            </a:r>
            <a:endParaRPr lang="en-US" sz="1300" dirty="0"/>
          </a:p>
          <a:p>
            <a:pPr marL="0" indent="0">
              <a:buNone/>
            </a:pPr>
            <a:r>
              <a:rPr lang="en-US" sz="1300" dirty="0">
                <a:solidFill>
                  <a:srgbClr val="F3EBDD"/>
                </a:solidFill>
                <a:latin typeface="Courier New" pitchFamily="34" charset="0"/>
                <a:ea typeface="Courier New" pitchFamily="34" charset="-122"/>
                <a:cs typeface="Courier New" pitchFamily="34" charset="-120"/>
              </a:rPr>
              <a:t>audio_path, voice_used = (</a:t>
            </a:r>
            <a:endParaRPr lang="en-US" sz="1300" dirty="0"/>
          </a:p>
          <a:p>
            <a:pPr marL="0" indent="0">
              <a:buNone/>
            </a:pPr>
            <a:r>
              <a:rPr lang="en-US" sz="1300" dirty="0">
                <a:solidFill>
                  <a:srgbClr val="F3EBDD"/>
                </a:solidFill>
                <a:latin typeface="Courier New" pitchFamily="34" charset="0"/>
                <a:ea typeface="Courier New" pitchFamily="34" charset="-122"/>
                <a:cs typeface="Courier New" pitchFamily="34" charset="-120"/>
              </a:rPr>
              <a:t>    generate_audio(script,</a:t>
            </a:r>
            <a:endParaRPr lang="en-US" sz="1300" dirty="0"/>
          </a:p>
          <a:p>
            <a:pPr marL="0" indent="0">
              <a:buNone/>
            </a:pPr>
            <a:r>
              <a:rPr lang="en-US" sz="1300" dirty="0">
                <a:solidFill>
                  <a:srgbClr val="F3EBDD"/>
                </a:solidFill>
                <a:latin typeface="Courier New" pitchFamily="34" charset="0"/>
                <a:ea typeface="Courier New" pitchFamily="34" charset="-122"/>
                <a:cs typeface="Courier New" pitchFamily="34" charset="-120"/>
              </a:rPr>
              <a:t>        OUTPUT_DIR, voice))</a:t>
            </a:r>
            <a:endParaRPr lang="en-US" sz="1300" dirty="0"/>
          </a:p>
        </p:txBody>
      </p:sp>
      <p:sp>
        <p:nvSpPr>
          <p:cNvPr id="7" name="Text 5"/>
          <p:cNvSpPr txBox="1"/>
          <p:nvPr/>
        </p:nvSpPr>
        <p:spPr>
          <a:xfrm>
            <a:off x="457200" y="3931920"/>
            <a:ext cx="4114800" cy="457200"/>
          </a:xfrm>
          <a:prstGeom prst="rect">
            <a:avLst/>
          </a:prstGeom>
          <a:noFill/>
          <a:ln/>
        </p:spPr>
        <p:txBody>
          <a:bodyPr wrap="square" lIns="0" tIns="0" rIns="0" bIns="0" rtlCol="0" anchor="t"/>
          <a:lstStyle/>
          <a:p>
            <a:pPr marL="0" indent="0">
              <a:buNone/>
            </a:pPr>
            <a:r>
              <a:rPr lang="en-US" sz="1400" dirty="0">
                <a:solidFill>
                  <a:srgbClr val="C9C2D0"/>
                </a:solidFill>
                <a:latin typeface="Calibri" pitchFamily="34" charset="0"/>
                <a:ea typeface="Calibri" pitchFamily="34" charset="-122"/>
                <a:cs typeface="Calibri" pitchFamily="34" charset="-120"/>
              </a:rPr>
              <a:t>sheet is a dictionary: metadata, text, word_count</a:t>
            </a:r>
            <a:endParaRPr lang="en-US" sz="1400" dirty="0"/>
          </a:p>
        </p:txBody>
      </p:sp>
      <p:sp>
        <p:nvSpPr>
          <p:cNvPr id="8" name="Step card 1"/>
          <p:cNvSpPr/>
          <p:nvPr/>
        </p:nvSpPr>
        <p:spPr>
          <a:xfrm>
            <a:off x="4846320" y="1600200"/>
            <a:ext cx="3840480" cy="658368"/>
          </a:xfrm>
          <a:prstGeom prst="roundRect">
            <a:avLst>
              <a:gd name="adj" fmla="val 11111"/>
            </a:avLst>
          </a:prstGeom>
          <a:solidFill>
            <a:srgbClr val="2A3042"/>
          </a:solidFill>
          <a:ln/>
        </p:spPr>
        <p:txBody>
          <a:bodyPr/>
          <a:lstStyle/>
          <a:p>
            <a:endParaRPr lang="es-ES"/>
          </a:p>
        </p:txBody>
      </p:sp>
      <p:sp>
        <p:nvSpPr>
          <p:cNvPr id="9" name="Text 7"/>
          <p:cNvSpPr txBox="1"/>
          <p:nvPr/>
        </p:nvSpPr>
        <p:spPr>
          <a:xfrm>
            <a:off x="5029200" y="1600200"/>
            <a:ext cx="3566160" cy="658368"/>
          </a:xfrm>
          <a:prstGeom prst="rect">
            <a:avLst/>
          </a:prstGeom>
          <a:noFill/>
          <a:ln/>
        </p:spPr>
        <p:txBody>
          <a:bodyPr wrap="square" lIns="0" tIns="0" rIns="0" bIns="0" rtlCol="0" anchor="ctr"/>
          <a:lstStyle/>
          <a:p>
            <a:pPr marL="0" indent="0">
              <a:buNone/>
            </a:pPr>
            <a:r>
              <a:rPr lang="en-US" sz="1500" b="1" dirty="0">
                <a:solidFill>
                  <a:srgbClr val="F3EBDD"/>
                </a:solidFill>
                <a:latin typeface="Calibri" pitchFamily="34" charset="0"/>
                <a:ea typeface="Calibri" pitchFamily="34" charset="-122"/>
                <a:cs typeface="Calibri" pitchFamily="34" charset="-120"/>
              </a:rPr>
              <a:t>1 · Sources and clean</a:t>
            </a:r>
            <a:endParaRPr lang="en-US" sz="1500" dirty="0"/>
          </a:p>
          <a:p>
            <a:pPr marL="0" indent="0">
              <a:buNone/>
            </a:pPr>
            <a:r>
              <a:rPr lang="en-US" sz="1400" dirty="0">
                <a:solidFill>
                  <a:srgbClr val="C9C2D0"/>
                </a:solidFill>
                <a:latin typeface="Calibri" pitchFamily="34" charset="0"/>
                <a:ea typeface="Calibri" pitchFamily="34" charset="-122"/>
                <a:cs typeface="Calibri" pitchFamily="34" charset="-120"/>
              </a:rPr>
              <a:t>Pasted text or .txt, .md, .pdf files</a:t>
            </a:r>
            <a:endParaRPr lang="en-US" sz="1500" dirty="0"/>
          </a:p>
        </p:txBody>
      </p:sp>
      <p:sp>
        <p:nvSpPr>
          <p:cNvPr id="10" name="Step card 2"/>
          <p:cNvSpPr/>
          <p:nvPr/>
        </p:nvSpPr>
        <p:spPr>
          <a:xfrm>
            <a:off x="4846320" y="2377440"/>
            <a:ext cx="3840480" cy="658368"/>
          </a:xfrm>
          <a:prstGeom prst="roundRect">
            <a:avLst>
              <a:gd name="adj" fmla="val 11111"/>
            </a:avLst>
          </a:prstGeom>
          <a:solidFill>
            <a:srgbClr val="2A3042"/>
          </a:solidFill>
          <a:ln/>
        </p:spPr>
        <p:txBody>
          <a:bodyPr/>
          <a:lstStyle/>
          <a:p>
            <a:endParaRPr lang="es-ES"/>
          </a:p>
        </p:txBody>
      </p:sp>
      <p:sp>
        <p:nvSpPr>
          <p:cNvPr id="11" name="Text 9"/>
          <p:cNvSpPr txBox="1"/>
          <p:nvPr/>
        </p:nvSpPr>
        <p:spPr>
          <a:xfrm>
            <a:off x="5029200" y="2377440"/>
            <a:ext cx="3566160" cy="658368"/>
          </a:xfrm>
          <a:prstGeom prst="rect">
            <a:avLst/>
          </a:prstGeom>
          <a:noFill/>
          <a:ln/>
        </p:spPr>
        <p:txBody>
          <a:bodyPr wrap="square" lIns="0" tIns="0" rIns="0" bIns="0" rtlCol="0" anchor="ctr"/>
          <a:lstStyle/>
          <a:p>
            <a:pPr marL="0" indent="0">
              <a:buNone/>
            </a:pPr>
            <a:r>
              <a:rPr lang="en-US" sz="1500" b="1" dirty="0">
                <a:solidFill>
                  <a:srgbClr val="F3EBDD"/>
                </a:solidFill>
                <a:latin typeface="Calibri" pitchFamily="34" charset="0"/>
                <a:ea typeface="Calibri" pitchFamily="34" charset="-122"/>
                <a:cs typeface="Calibri" pitchFamily="34" charset="-120"/>
              </a:rPr>
              <a:t>2 · Write</a:t>
            </a:r>
            <a:endParaRPr lang="en-US" sz="1500" dirty="0"/>
          </a:p>
          <a:p>
            <a:pPr marL="0" indent="0">
              <a:buNone/>
            </a:pPr>
            <a:r>
              <a:rPr lang="en-US" sz="1400" dirty="0">
                <a:solidFill>
                  <a:srgbClr val="C9C2D0"/>
                </a:solidFill>
                <a:latin typeface="Calibri" pitchFamily="34" charset="0"/>
                <a:ea typeface="Calibri" pitchFamily="34" charset="-122"/>
                <a:cs typeface="Calibri" pitchFamily="34" charset="-120"/>
              </a:rPr>
              <a:t>A Gemini model writes the script, 3 styles</a:t>
            </a:r>
            <a:endParaRPr lang="en-US" sz="1500" dirty="0"/>
          </a:p>
        </p:txBody>
      </p:sp>
      <p:sp>
        <p:nvSpPr>
          <p:cNvPr id="12" name="Step card 3"/>
          <p:cNvSpPr/>
          <p:nvPr/>
        </p:nvSpPr>
        <p:spPr>
          <a:xfrm>
            <a:off x="4846320" y="3154680"/>
            <a:ext cx="3840480" cy="658368"/>
          </a:xfrm>
          <a:prstGeom prst="roundRect">
            <a:avLst>
              <a:gd name="adj" fmla="val 11111"/>
            </a:avLst>
          </a:prstGeom>
          <a:solidFill>
            <a:srgbClr val="2A3042"/>
          </a:solidFill>
          <a:ln/>
        </p:spPr>
        <p:txBody>
          <a:bodyPr/>
          <a:lstStyle/>
          <a:p>
            <a:endParaRPr lang="es-ES"/>
          </a:p>
        </p:txBody>
      </p:sp>
      <p:sp>
        <p:nvSpPr>
          <p:cNvPr id="13" name="Text 11"/>
          <p:cNvSpPr txBox="1"/>
          <p:nvPr/>
        </p:nvSpPr>
        <p:spPr>
          <a:xfrm>
            <a:off x="5029200" y="3154680"/>
            <a:ext cx="3566160" cy="658368"/>
          </a:xfrm>
          <a:prstGeom prst="rect">
            <a:avLst/>
          </a:prstGeom>
          <a:noFill/>
          <a:ln/>
        </p:spPr>
        <p:txBody>
          <a:bodyPr wrap="square" lIns="0" tIns="0" rIns="0" bIns="0" rtlCol="0" anchor="ctr"/>
          <a:lstStyle/>
          <a:p>
            <a:pPr marL="0" indent="0">
              <a:buNone/>
            </a:pPr>
            <a:r>
              <a:rPr lang="en-US" sz="1500" b="1" dirty="0">
                <a:solidFill>
                  <a:srgbClr val="F3EBDD"/>
                </a:solidFill>
                <a:latin typeface="Calibri" pitchFamily="34" charset="0"/>
                <a:ea typeface="Calibri" pitchFamily="34" charset="-122"/>
                <a:cs typeface="Calibri" pitchFamily="34" charset="-120"/>
              </a:rPr>
              <a:t>3 · Speak</a:t>
            </a:r>
            <a:endParaRPr lang="en-US" sz="1500" dirty="0"/>
          </a:p>
          <a:p>
            <a:pPr marL="0" indent="0">
              <a:buNone/>
            </a:pPr>
            <a:r>
              <a:rPr lang="en-US" sz="1400" dirty="0">
                <a:solidFill>
                  <a:srgbClr val="C9C2D0"/>
                </a:solidFill>
                <a:latin typeface="Calibri" pitchFamily="34" charset="0"/>
                <a:ea typeface="Calibri" pitchFamily="34" charset="-122"/>
                <a:cs typeface="Calibri" pitchFamily="34" charset="-120"/>
              </a:rPr>
              <a:t>Gemini TTS reads it: 9 voices, 2 backups</a:t>
            </a:r>
            <a:endParaRPr lang="en-US" sz="1500" dirty="0"/>
          </a:p>
        </p:txBody>
      </p:sp>
      <p:sp>
        <p:nvSpPr>
          <p:cNvPr id="14" name="Step card 4"/>
          <p:cNvSpPr/>
          <p:nvPr/>
        </p:nvSpPr>
        <p:spPr>
          <a:xfrm>
            <a:off x="4846320" y="3931920"/>
            <a:ext cx="3840480" cy="658368"/>
          </a:xfrm>
          <a:prstGeom prst="roundRect">
            <a:avLst>
              <a:gd name="adj" fmla="val 11111"/>
            </a:avLst>
          </a:prstGeom>
          <a:solidFill>
            <a:srgbClr val="2A3042"/>
          </a:solidFill>
          <a:ln/>
        </p:spPr>
        <p:txBody>
          <a:bodyPr/>
          <a:lstStyle/>
          <a:p>
            <a:endParaRPr lang="es-ES"/>
          </a:p>
        </p:txBody>
      </p:sp>
      <p:sp>
        <p:nvSpPr>
          <p:cNvPr id="15" name="Text 13"/>
          <p:cNvSpPr txBox="1"/>
          <p:nvPr/>
        </p:nvSpPr>
        <p:spPr>
          <a:xfrm>
            <a:off x="5029200" y="3931920"/>
            <a:ext cx="3566160" cy="658368"/>
          </a:xfrm>
          <a:prstGeom prst="rect">
            <a:avLst/>
          </a:prstGeom>
          <a:noFill/>
          <a:ln/>
        </p:spPr>
        <p:txBody>
          <a:bodyPr wrap="square" lIns="0" tIns="0" rIns="0" bIns="0" rtlCol="0" anchor="ctr"/>
          <a:lstStyle/>
          <a:p>
            <a:pPr marL="0" indent="0">
              <a:buNone/>
            </a:pPr>
            <a:r>
              <a:rPr lang="en-US" sz="1500" b="1" dirty="0">
                <a:solidFill>
                  <a:srgbClr val="F3EBDD"/>
                </a:solidFill>
                <a:latin typeface="Calibri" pitchFamily="34" charset="0"/>
                <a:ea typeface="Calibri" pitchFamily="34" charset="-122"/>
                <a:cs typeface="Calibri" pitchFamily="34" charset="-120"/>
              </a:rPr>
              <a:t>Interface · Gradio</a:t>
            </a:r>
            <a:endParaRPr lang="en-US" sz="1500" dirty="0"/>
          </a:p>
          <a:p>
            <a:pPr marL="0" indent="0">
              <a:buNone/>
            </a:pPr>
            <a:r>
              <a:rPr lang="en-US" sz="1400" dirty="0">
                <a:solidFill>
                  <a:srgbClr val="C9C2D0"/>
                </a:solidFill>
                <a:latin typeface="Calibri" pitchFamily="34" charset="0"/>
                <a:ea typeface="Calibri" pitchFamily="34" charset="-122"/>
                <a:cs typeface="Calibri" pitchFamily="34" charset="-120"/>
              </a:rPr>
              <a:t>One page: status, audio and script</a:t>
            </a:r>
            <a:endParaRPr lang="en-US" sz="1500" dirty="0"/>
          </a:p>
        </p:txBody>
      </p:sp>
      <p:sp>
        <p:nvSpPr>
          <p:cNvPr id="16" name="Footer"/>
          <p:cNvSpPr txBox="1"/>
          <p:nvPr/>
        </p:nvSpPr>
        <p:spPr>
          <a:xfrm>
            <a:off x="457200" y="4709160"/>
            <a:ext cx="4572000" cy="274320"/>
          </a:xfrm>
          <a:prstGeom prst="rect">
            <a:avLst/>
          </a:prstGeom>
          <a:noFill/>
          <a:ln/>
        </p:spPr>
        <p:txBody>
          <a:bodyPr wrap="square" lIns="0" tIns="0" rIns="0" bIns="0" rtlCol="0" anchor="ctr"/>
          <a:lstStyle/>
          <a:p>
            <a:pPr marL="0" indent="0">
              <a:buNone/>
            </a:pPr>
            <a:r>
              <a:rPr lang="en-US" sz="1000" dirty="0">
                <a:solidFill>
                  <a:srgbClr val="C9C2D0"/>
                </a:solidFill>
                <a:latin typeface="Calibri" pitchFamily="34" charset="0"/>
                <a:ea typeface="Calibri" pitchFamily="34" charset="-122"/>
                <a:cs typeface="Calibri" pitchFamily="34" charset="-120"/>
              </a:rPr>
              <a:t>Podcast Studio · Jaime Gárate</a:t>
            </a:r>
            <a:endParaRPr lang="en-US" sz="1000" dirty="0"/>
          </a:p>
        </p:txBody>
      </p:sp>
      <p:sp>
        <p:nvSpPr>
          <p:cNvPr id="17" name="Page number"/>
          <p:cNvSpPr txBox="1"/>
          <p:nvPr/>
        </p:nvSpPr>
        <p:spPr>
          <a:xfrm>
            <a:off x="7772400" y="4709160"/>
            <a:ext cx="914400" cy="274320"/>
          </a:xfrm>
          <a:prstGeom prst="rect">
            <a:avLst/>
          </a:prstGeom>
          <a:noFill/>
          <a:ln/>
        </p:spPr>
        <p:txBody>
          <a:bodyPr wrap="square" lIns="0" tIns="0" rIns="0" bIns="0" rtlCol="0" anchor="ctr"/>
          <a:lstStyle/>
          <a:p>
            <a:pPr marL="0" indent="0" algn="r">
              <a:buNone/>
            </a:pPr>
            <a:r>
              <a:rPr lang="en-US" sz="1000" dirty="0">
                <a:solidFill>
                  <a:srgbClr val="C9C2D0"/>
                </a:solidFill>
                <a:latin typeface="Calibri" pitchFamily="34" charset="0"/>
                <a:ea typeface="Calibri" pitchFamily="34" charset="-122"/>
                <a:cs typeface="Calibri" pitchFamily="34" charset="-120"/>
              </a:rPr>
              <a:t>3 / 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5EA"/>
        </a:solidFill>
        <a:effectLst/>
      </p:bgPr>
    </p:bg>
    <p:spTree>
      <p:nvGrpSpPr>
        <p:cNvPr id="1" name=""/>
        <p:cNvGrpSpPr/>
        <p:nvPr/>
      </p:nvGrpSpPr>
      <p:grpSpPr>
        <a:xfrm>
          <a:off x="0" y="0"/>
          <a:ext cx="0" cy="0"/>
          <a:chOff x="0" y="0"/>
          <a:chExt cx="0" cy="0"/>
        </a:xfrm>
      </p:grpSpPr>
      <p:sp>
        <p:nvSpPr>
          <p:cNvPr id="2" name="Eyebrow"/>
          <p:cNvSpPr txBox="1"/>
          <p:nvPr/>
        </p:nvSpPr>
        <p:spPr>
          <a:xfrm>
            <a:off x="457200" y="365760"/>
            <a:ext cx="5486400" cy="274320"/>
          </a:xfrm>
          <a:prstGeom prst="rect">
            <a:avLst/>
          </a:prstGeom>
          <a:noFill/>
          <a:ln/>
        </p:spPr>
        <p:txBody>
          <a:bodyPr wrap="square" lIns="0" tIns="0" rIns="0" bIns="0" rtlCol="0" anchor="ctr"/>
          <a:lstStyle/>
          <a:p>
            <a:pPr marL="0" indent="0">
              <a:buNone/>
            </a:pPr>
            <a:r>
              <a:rPr lang="en-US" sz="1200" b="1" kern="0" spc="300" dirty="0">
                <a:solidFill>
                  <a:srgbClr val="9A4F12"/>
                </a:solidFill>
                <a:latin typeface="Calibri" pitchFamily="34" charset="0"/>
                <a:ea typeface="Calibri" pitchFamily="34" charset="-122"/>
                <a:cs typeface="Calibri" pitchFamily="34" charset="-120"/>
              </a:rPr>
              <a:t>LIVE DEMO</a:t>
            </a:r>
            <a:endParaRPr lang="en-US" sz="1200" dirty="0"/>
          </a:p>
        </p:txBody>
      </p:sp>
      <p:sp>
        <p:nvSpPr>
          <p:cNvPr id="3" name="Title"/>
          <p:cNvSpPr txBox="1"/>
          <p:nvPr/>
        </p:nvSpPr>
        <p:spPr>
          <a:xfrm>
            <a:off x="457200" y="685800"/>
            <a:ext cx="8229600" cy="822960"/>
          </a:xfrm>
          <a:prstGeom prst="rect">
            <a:avLst/>
          </a:prstGeom>
          <a:noFill/>
          <a:ln/>
        </p:spPr>
        <p:txBody>
          <a:bodyPr wrap="square" lIns="0" tIns="0" rIns="0" bIns="0" rtlCol="0" anchor="t"/>
          <a:lstStyle/>
          <a:p>
            <a:pPr marL="0" indent="0">
              <a:buNone/>
            </a:pPr>
            <a:r>
              <a:rPr lang="en-US" sz="3000" b="1" dirty="0">
                <a:solidFill>
                  <a:srgbClr val="1E2230"/>
                </a:solidFill>
                <a:latin typeface="Cambria" pitchFamily="34" charset="0"/>
                <a:ea typeface="Cambria" pitchFamily="34" charset="-122"/>
                <a:cs typeface="Cambria" pitchFamily="34" charset="-120"/>
              </a:rPr>
              <a:t>From text to audio in Gradio</a:t>
            </a:r>
            <a:endParaRPr lang="en-US" sz="3000" dirty="0"/>
          </a:p>
        </p:txBody>
      </p:sp>
      <p:sp>
        <p:nvSpPr>
          <p:cNvPr id="4" name="Step number 1"/>
          <p:cNvSpPr/>
          <p:nvPr/>
        </p:nvSpPr>
        <p:spPr>
          <a:xfrm>
            <a:off x="457200" y="1408176"/>
            <a:ext cx="384048" cy="384048"/>
          </a:xfrm>
          <a:prstGeom prst="ellipse">
            <a:avLst/>
          </a:prstGeom>
          <a:solidFill>
            <a:srgbClr val="9A4F12"/>
          </a:solidFill>
          <a:ln/>
        </p:spPr>
        <p:txBody>
          <a:bodyPr/>
          <a:lstStyle/>
          <a:p>
            <a:endParaRPr lang="es-ES"/>
          </a:p>
        </p:txBody>
      </p:sp>
      <p:sp>
        <p:nvSpPr>
          <p:cNvPr id="5" name="Text 3"/>
          <p:cNvSpPr txBox="1"/>
          <p:nvPr/>
        </p:nvSpPr>
        <p:spPr>
          <a:xfrm>
            <a:off x="457200" y="1408176"/>
            <a:ext cx="384048" cy="384048"/>
          </a:xfrm>
          <a:prstGeom prst="rect">
            <a:avLst/>
          </a:prstGeom>
          <a:noFill/>
          <a:ln/>
        </p:spPr>
        <p:txBody>
          <a:bodyPr wrap="square" lIns="0" tIns="0" rIns="0" bIns="0" rtlCol="0" anchor="ctr"/>
          <a:lstStyle/>
          <a:p>
            <a:pPr marL="0" indent="0" algn="ctr">
              <a:buNone/>
            </a:pPr>
            <a:r>
              <a:rPr lang="en-US" sz="1400" b="1" dirty="0">
                <a:solidFill>
                  <a:srgbClr val="FBF5EA"/>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05840" y="1371600"/>
            <a:ext cx="3108960" cy="457200"/>
          </a:xfrm>
          <a:prstGeom prst="rect">
            <a:avLst/>
          </a:prstGeom>
          <a:noFill/>
          <a:ln/>
        </p:spPr>
        <p:txBody>
          <a:bodyPr wrap="square" lIns="0" tIns="0" rIns="0" bIns="0" rtlCol="0" anchor="ctr"/>
          <a:lstStyle/>
          <a:p>
            <a:pPr marL="0" indent="0">
              <a:buNone/>
            </a:pPr>
            <a:r>
              <a:rPr lang="en-US" sz="1400" dirty="0">
                <a:solidFill>
                  <a:srgbClr val="1E2230"/>
                </a:solidFill>
                <a:latin typeface="Calibri" pitchFamily="34" charset="0"/>
                <a:ea typeface="Calibri" pitchFamily="34" charset="-122"/>
                <a:cs typeface="Calibri" pitchFamily="34" charset="-120"/>
              </a:rPr>
              <a:t>Paste a text or upload a .txt, .md or .pdf</a:t>
            </a:r>
            <a:endParaRPr lang="en-US" sz="1400" dirty="0"/>
          </a:p>
        </p:txBody>
      </p:sp>
      <p:sp>
        <p:nvSpPr>
          <p:cNvPr id="7" name="Step number 2"/>
          <p:cNvSpPr/>
          <p:nvPr/>
        </p:nvSpPr>
        <p:spPr>
          <a:xfrm>
            <a:off x="457200" y="2093976"/>
            <a:ext cx="384048" cy="384048"/>
          </a:xfrm>
          <a:prstGeom prst="ellipse">
            <a:avLst/>
          </a:prstGeom>
          <a:solidFill>
            <a:srgbClr val="9A4F12"/>
          </a:solidFill>
          <a:ln/>
        </p:spPr>
        <p:txBody>
          <a:bodyPr/>
          <a:lstStyle/>
          <a:p>
            <a:endParaRPr lang="es-ES"/>
          </a:p>
        </p:txBody>
      </p:sp>
      <p:sp>
        <p:nvSpPr>
          <p:cNvPr id="8" name="Text 6"/>
          <p:cNvSpPr txBox="1"/>
          <p:nvPr/>
        </p:nvSpPr>
        <p:spPr>
          <a:xfrm>
            <a:off x="457200" y="2093976"/>
            <a:ext cx="384048" cy="384048"/>
          </a:xfrm>
          <a:prstGeom prst="rect">
            <a:avLst/>
          </a:prstGeom>
          <a:noFill/>
          <a:ln/>
        </p:spPr>
        <p:txBody>
          <a:bodyPr wrap="square" lIns="0" tIns="0" rIns="0" bIns="0" rtlCol="0" anchor="ctr"/>
          <a:lstStyle/>
          <a:p>
            <a:pPr marL="0" indent="0" algn="ctr">
              <a:buNone/>
            </a:pPr>
            <a:r>
              <a:rPr lang="en-US" sz="1400" b="1" dirty="0">
                <a:solidFill>
                  <a:srgbClr val="FBF5EA"/>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005840" y="1920240"/>
            <a:ext cx="3108960" cy="731520"/>
          </a:xfrm>
          <a:prstGeom prst="rect">
            <a:avLst/>
          </a:prstGeom>
          <a:noFill/>
          <a:ln/>
        </p:spPr>
        <p:txBody>
          <a:bodyPr wrap="square" lIns="0" tIns="0" rIns="0" bIns="0" rtlCol="0" anchor="ctr"/>
          <a:lstStyle/>
          <a:p>
            <a:pPr marL="0" indent="0">
              <a:buNone/>
            </a:pPr>
            <a:r>
              <a:rPr lang="en-US" sz="1400" dirty="0">
                <a:solidFill>
                  <a:srgbClr val="1E2230"/>
                </a:solidFill>
                <a:latin typeface="Calibri" pitchFamily="34" charset="0"/>
                <a:ea typeface="Calibri" pitchFamily="34" charset="-122"/>
                <a:cs typeface="Calibri" pitchFamily="34" charset="-120"/>
              </a:rPr>
              <a:t>Choose the voice (Sulafat, warm) and the style (Reflective and literary)</a:t>
            </a:r>
            <a:endParaRPr lang="en-US" sz="1400" dirty="0"/>
          </a:p>
        </p:txBody>
      </p:sp>
      <p:sp>
        <p:nvSpPr>
          <p:cNvPr id="10" name="Step number 3"/>
          <p:cNvSpPr/>
          <p:nvPr/>
        </p:nvSpPr>
        <p:spPr>
          <a:xfrm>
            <a:off x="457200" y="2825496"/>
            <a:ext cx="384048" cy="384048"/>
          </a:xfrm>
          <a:prstGeom prst="ellipse">
            <a:avLst/>
          </a:prstGeom>
          <a:solidFill>
            <a:srgbClr val="9A4F12"/>
          </a:solidFill>
          <a:ln/>
        </p:spPr>
        <p:txBody>
          <a:bodyPr/>
          <a:lstStyle/>
          <a:p>
            <a:endParaRPr lang="es-ES"/>
          </a:p>
        </p:txBody>
      </p:sp>
      <p:sp>
        <p:nvSpPr>
          <p:cNvPr id="11" name="Text 9"/>
          <p:cNvSpPr txBox="1"/>
          <p:nvPr/>
        </p:nvSpPr>
        <p:spPr>
          <a:xfrm>
            <a:off x="457200" y="2825496"/>
            <a:ext cx="384048" cy="384048"/>
          </a:xfrm>
          <a:prstGeom prst="rect">
            <a:avLst/>
          </a:prstGeom>
          <a:noFill/>
          <a:ln/>
        </p:spPr>
        <p:txBody>
          <a:bodyPr wrap="square" lIns="0" tIns="0" rIns="0" bIns="0" rtlCol="0" anchor="ctr"/>
          <a:lstStyle/>
          <a:p>
            <a:pPr marL="0" indent="0" algn="ctr">
              <a:buNone/>
            </a:pPr>
            <a:r>
              <a:rPr lang="en-US" sz="1400" b="1" dirty="0">
                <a:solidFill>
                  <a:srgbClr val="FBF5EA"/>
                </a:solidFill>
                <a:latin typeface="Calibri" pitchFamily="34" charset="0"/>
                <a:ea typeface="Calibri" pitchFamily="34" charset="-122"/>
                <a:cs typeface="Calibri" pitchFamily="34" charset="-120"/>
              </a:rPr>
              <a:t>3</a:t>
            </a:r>
            <a:endParaRPr lang="en-US" sz="1400" dirty="0"/>
          </a:p>
        </p:txBody>
      </p:sp>
      <p:sp>
        <p:nvSpPr>
          <p:cNvPr id="12" name="Text 10"/>
          <p:cNvSpPr txBox="1"/>
          <p:nvPr/>
        </p:nvSpPr>
        <p:spPr>
          <a:xfrm>
            <a:off x="1005840" y="2743200"/>
            <a:ext cx="3108960" cy="548640"/>
          </a:xfrm>
          <a:prstGeom prst="rect">
            <a:avLst/>
          </a:prstGeom>
          <a:noFill/>
          <a:ln/>
        </p:spPr>
        <p:txBody>
          <a:bodyPr wrap="square" lIns="0" tIns="0" rIns="0" bIns="0" rtlCol="0" anchor="ctr"/>
          <a:lstStyle/>
          <a:p>
            <a:pPr marL="0" indent="0">
              <a:buNone/>
            </a:pPr>
            <a:r>
              <a:rPr lang="en-US" sz="1400" dirty="0">
                <a:solidFill>
                  <a:srgbClr val="1E2230"/>
                </a:solidFill>
                <a:latin typeface="Calibri" pitchFamily="34" charset="0"/>
                <a:ea typeface="Calibri" pitchFamily="34" charset="-122"/>
                <a:cs typeface="Calibri" pitchFamily="34" charset="-120"/>
              </a:rPr>
              <a:t>Press “Generate podcast” and wait 1 to 3 minutes</a:t>
            </a:r>
            <a:endParaRPr lang="en-US" sz="1400" dirty="0"/>
          </a:p>
        </p:txBody>
      </p:sp>
      <p:sp>
        <p:nvSpPr>
          <p:cNvPr id="13" name="Step number 4"/>
          <p:cNvSpPr/>
          <p:nvPr/>
        </p:nvSpPr>
        <p:spPr>
          <a:xfrm>
            <a:off x="457200" y="3419856"/>
            <a:ext cx="384048" cy="384048"/>
          </a:xfrm>
          <a:prstGeom prst="ellipse">
            <a:avLst/>
          </a:prstGeom>
          <a:solidFill>
            <a:srgbClr val="9A4F12"/>
          </a:solidFill>
          <a:ln/>
        </p:spPr>
        <p:txBody>
          <a:bodyPr/>
          <a:lstStyle/>
          <a:p>
            <a:endParaRPr lang="es-ES"/>
          </a:p>
        </p:txBody>
      </p:sp>
      <p:sp>
        <p:nvSpPr>
          <p:cNvPr id="14" name="Text 12"/>
          <p:cNvSpPr txBox="1"/>
          <p:nvPr/>
        </p:nvSpPr>
        <p:spPr>
          <a:xfrm>
            <a:off x="457200" y="3419856"/>
            <a:ext cx="384048" cy="384048"/>
          </a:xfrm>
          <a:prstGeom prst="rect">
            <a:avLst/>
          </a:prstGeom>
          <a:noFill/>
          <a:ln/>
        </p:spPr>
        <p:txBody>
          <a:bodyPr wrap="square" lIns="0" tIns="0" rIns="0" bIns="0" rtlCol="0" anchor="ctr"/>
          <a:lstStyle/>
          <a:p>
            <a:pPr marL="0" indent="0" algn="ctr">
              <a:buNone/>
            </a:pPr>
            <a:r>
              <a:rPr lang="en-US" sz="1400" b="1" dirty="0">
                <a:solidFill>
                  <a:srgbClr val="FBF5EA"/>
                </a:solidFill>
                <a:latin typeface="Calibri" pitchFamily="34" charset="0"/>
                <a:ea typeface="Calibri" pitchFamily="34" charset="-122"/>
                <a:cs typeface="Calibri" pitchFamily="34" charset="-120"/>
              </a:rPr>
              <a:t>4</a:t>
            </a:r>
            <a:endParaRPr lang="en-US" sz="1400" dirty="0"/>
          </a:p>
        </p:txBody>
      </p:sp>
      <p:sp>
        <p:nvSpPr>
          <p:cNvPr id="15" name="Text 13"/>
          <p:cNvSpPr txBox="1"/>
          <p:nvPr/>
        </p:nvSpPr>
        <p:spPr>
          <a:xfrm>
            <a:off x="1005840" y="3383280"/>
            <a:ext cx="3108960" cy="457200"/>
          </a:xfrm>
          <a:prstGeom prst="rect">
            <a:avLst/>
          </a:prstGeom>
          <a:noFill/>
          <a:ln/>
        </p:spPr>
        <p:txBody>
          <a:bodyPr wrap="square" lIns="0" tIns="0" rIns="0" bIns="0" rtlCol="0" anchor="ctr"/>
          <a:lstStyle/>
          <a:p>
            <a:pPr marL="0" indent="0">
              <a:buNone/>
            </a:pPr>
            <a:r>
              <a:rPr lang="en-US" sz="1400" dirty="0">
                <a:solidFill>
                  <a:srgbClr val="1E2230"/>
                </a:solidFill>
                <a:latin typeface="Calibri" pitchFamily="34" charset="0"/>
                <a:ea typeface="Calibri" pitchFamily="34" charset="-122"/>
                <a:cs typeface="Calibri" pitchFamily="34" charset="-120"/>
              </a:rPr>
              <a:t>Listen to the audio and read the script</a:t>
            </a:r>
            <a:endParaRPr lang="en-US" sz="1400" dirty="0"/>
          </a:p>
        </p:txBody>
      </p:sp>
      <p:sp>
        <p:nvSpPr>
          <p:cNvPr id="16" name="Code panel"/>
          <p:cNvSpPr/>
          <p:nvPr/>
        </p:nvSpPr>
        <p:spPr>
          <a:xfrm>
            <a:off x="4343400" y="1371600"/>
            <a:ext cx="4343400" cy="2606040"/>
          </a:xfrm>
          <a:prstGeom prst="roundRect">
            <a:avLst>
              <a:gd name="adj" fmla="val 4211"/>
            </a:avLst>
          </a:prstGeom>
          <a:solidFill>
            <a:srgbClr val="1E2230"/>
          </a:solidFill>
          <a:ln/>
        </p:spPr>
        <p:txBody>
          <a:bodyPr/>
          <a:lstStyle/>
          <a:p>
            <a:endParaRPr lang="es-ES"/>
          </a:p>
        </p:txBody>
      </p:sp>
      <p:sp>
        <p:nvSpPr>
          <p:cNvPr id="17" name="Text 15"/>
          <p:cNvSpPr txBox="1"/>
          <p:nvPr/>
        </p:nvSpPr>
        <p:spPr>
          <a:xfrm>
            <a:off x="4526280" y="1481328"/>
            <a:ext cx="3931920" cy="228600"/>
          </a:xfrm>
          <a:prstGeom prst="rect">
            <a:avLst/>
          </a:prstGeom>
          <a:noFill/>
          <a:ln/>
        </p:spPr>
        <p:txBody>
          <a:bodyPr wrap="square" lIns="0" tIns="0" rIns="0" bIns="0" rtlCol="0" anchor="ctr"/>
          <a:lstStyle/>
          <a:p>
            <a:pPr marL="0" indent="0">
              <a:buNone/>
            </a:pPr>
            <a:r>
              <a:rPr lang="en-US" sz="1100" b="1" dirty="0">
                <a:solidFill>
                  <a:srgbClr val="E8A640"/>
                </a:solidFill>
                <a:latin typeface="Calibri" pitchFamily="34" charset="0"/>
                <a:ea typeface="Calibri" pitchFamily="34" charset="-122"/>
                <a:cs typeface="Calibri" pitchFamily="34" charset="-120"/>
              </a:rPr>
              <a:t>The button calls the function</a:t>
            </a:r>
            <a:endParaRPr lang="en-US" sz="1100" dirty="0"/>
          </a:p>
        </p:txBody>
      </p:sp>
      <p:sp>
        <p:nvSpPr>
          <p:cNvPr id="18" name="Code"/>
          <p:cNvSpPr txBox="1"/>
          <p:nvPr/>
        </p:nvSpPr>
        <p:spPr>
          <a:xfrm>
            <a:off x="4526280" y="1755648"/>
            <a:ext cx="4023360" cy="1061720"/>
          </a:xfrm>
          <a:prstGeom prst="rect">
            <a:avLst/>
          </a:prstGeom>
          <a:noFill/>
          <a:ln/>
        </p:spPr>
        <p:txBody>
          <a:bodyPr wrap="square" lIns="0" tIns="0" rIns="0" bIns="0" rtlCol="0" anchor="t"/>
          <a:lstStyle/>
          <a:p>
            <a:pPr marL="0" indent="0">
              <a:buNone/>
            </a:pPr>
            <a:r>
              <a:rPr lang="en-US" sz="1100" dirty="0">
                <a:solidFill>
                  <a:srgbClr val="F3EBDD"/>
                </a:solidFill>
                <a:latin typeface="Courier New" pitchFamily="34" charset="0"/>
                <a:ea typeface="Courier New" pitchFamily="34" charset="-122"/>
                <a:cs typeface="Courier New" pitchFamily="34" charset="-120"/>
              </a:rPr>
              <a:t>generate_btn.click(run_pipeline,</a:t>
            </a:r>
            <a:endParaRPr lang="en-US" sz="1100" dirty="0"/>
          </a:p>
          <a:p>
            <a:pPr marL="0" indent="0">
              <a:buNone/>
            </a:pPr>
            <a:r>
              <a:rPr lang="en-US" sz="1100" dirty="0">
                <a:solidFill>
                  <a:srgbClr val="F3EBDD"/>
                </a:solidFill>
                <a:latin typeface="Courier New" pitchFamily="34" charset="0"/>
                <a:ea typeface="Courier New" pitchFamily="34" charset="-122"/>
                <a:cs typeface="Courier New" pitchFamily="34" charset="-120"/>
              </a:rPr>
              <a:t>    inputs=[sheet_box, voice_box,</a:t>
            </a:r>
            <a:endParaRPr lang="en-US" sz="1100" dirty="0"/>
          </a:p>
          <a:p>
            <a:pPr marL="0" indent="0">
              <a:buNone/>
            </a:pPr>
            <a:r>
              <a:rPr lang="en-US" sz="1100" dirty="0">
                <a:solidFill>
                  <a:srgbClr val="F3EBDD"/>
                </a:solidFill>
                <a:latin typeface="Courier New" pitchFamily="34" charset="0"/>
                <a:ea typeface="Courier New" pitchFamily="34" charset="-122"/>
                <a:cs typeface="Courier New" pitchFamily="34" charset="-120"/>
              </a:rPr>
              <a:t>            style_box],</a:t>
            </a:r>
            <a:endParaRPr lang="en-US" sz="1100" dirty="0"/>
          </a:p>
          <a:p>
            <a:pPr marL="0" indent="0">
              <a:buNone/>
            </a:pPr>
            <a:r>
              <a:rPr lang="en-US" sz="1100" dirty="0">
                <a:solidFill>
                  <a:srgbClr val="F3EBDD"/>
                </a:solidFill>
                <a:latin typeface="Courier New" pitchFamily="34" charset="0"/>
                <a:ea typeface="Courier New" pitchFamily="34" charset="-122"/>
                <a:cs typeface="Courier New" pitchFamily="34" charset="-120"/>
              </a:rPr>
              <a:t>    outputs=[script_box, audio_box,</a:t>
            </a:r>
            <a:endParaRPr lang="en-US" sz="1100" dirty="0"/>
          </a:p>
          <a:p>
            <a:pPr marL="0" indent="0">
              <a:buNone/>
            </a:pPr>
            <a:r>
              <a:rPr lang="en-US" sz="1100" dirty="0">
                <a:solidFill>
                  <a:srgbClr val="F3EBDD"/>
                </a:solidFill>
                <a:latin typeface="Courier New" pitchFamily="34" charset="0"/>
                <a:ea typeface="Courier New" pitchFamily="34" charset="-122"/>
                <a:cs typeface="Courier New" pitchFamily="34" charset="-120"/>
              </a:rPr>
              <a:t>             status_box])</a:t>
            </a:r>
            <a:endParaRPr lang="en-US" sz="1100" dirty="0"/>
          </a:p>
        </p:txBody>
      </p:sp>
      <p:sp>
        <p:nvSpPr>
          <p:cNvPr id="19" name="Text 17"/>
          <p:cNvSpPr txBox="1"/>
          <p:nvPr/>
        </p:nvSpPr>
        <p:spPr>
          <a:xfrm>
            <a:off x="4526280" y="2926080"/>
            <a:ext cx="3931920" cy="228600"/>
          </a:xfrm>
          <a:prstGeom prst="rect">
            <a:avLst/>
          </a:prstGeom>
          <a:noFill/>
          <a:ln/>
        </p:spPr>
        <p:txBody>
          <a:bodyPr wrap="square" lIns="0" tIns="0" rIns="0" bIns="0" rtlCol="0" anchor="ctr"/>
          <a:lstStyle/>
          <a:p>
            <a:pPr marL="0" indent="0">
              <a:buNone/>
            </a:pPr>
            <a:r>
              <a:rPr lang="en-US" sz="1100" b="1" dirty="0">
                <a:solidFill>
                  <a:srgbClr val="E8A640"/>
                </a:solidFill>
                <a:latin typeface="Calibri" pitchFamily="34" charset="0"/>
                <a:ea typeface="Calibri" pitchFamily="34" charset="-122"/>
                <a:cs typeface="Calibri" pitchFamily="34" charset="-120"/>
              </a:rPr>
              <a:t>Each step has its own error handling</a:t>
            </a:r>
            <a:endParaRPr lang="en-US" sz="1100" dirty="0"/>
          </a:p>
        </p:txBody>
      </p:sp>
      <p:sp>
        <p:nvSpPr>
          <p:cNvPr id="20" name="Code"/>
          <p:cNvSpPr txBox="1"/>
          <p:nvPr/>
        </p:nvSpPr>
        <p:spPr>
          <a:xfrm>
            <a:off x="4526280" y="3200400"/>
            <a:ext cx="4023360" cy="858520"/>
          </a:xfrm>
          <a:prstGeom prst="rect">
            <a:avLst/>
          </a:prstGeom>
          <a:noFill/>
          <a:ln/>
        </p:spPr>
        <p:txBody>
          <a:bodyPr wrap="square" lIns="0" tIns="0" rIns="0" bIns="0" rtlCol="0" anchor="t"/>
          <a:lstStyle/>
          <a:p>
            <a:pPr marL="0" indent="0">
              <a:buNone/>
            </a:pPr>
            <a:r>
              <a:rPr lang="en-US" sz="1100" dirty="0">
                <a:solidFill>
                  <a:srgbClr val="F3EBDD"/>
                </a:solidFill>
                <a:latin typeface="Courier New" pitchFamily="34" charset="0"/>
                <a:ea typeface="Courier New" pitchFamily="34" charset="-122"/>
                <a:cs typeface="Courier New" pitchFamily="34" charset="-120"/>
              </a:rPr>
              <a:t>try:</a:t>
            </a:r>
            <a:endParaRPr lang="en-US" sz="1100" dirty="0"/>
          </a:p>
          <a:p>
            <a:pPr marL="0" indent="0">
              <a:buNone/>
            </a:pPr>
            <a:r>
              <a:rPr lang="en-US" sz="1100" dirty="0">
                <a:solidFill>
                  <a:srgbClr val="F3EBDD"/>
                </a:solidFill>
                <a:latin typeface="Courier New" pitchFamily="34" charset="0"/>
                <a:ea typeface="Courier New" pitchFamily="34" charset="-122"/>
                <a:cs typeface="Courier New" pitchFamily="34" charset="-120"/>
              </a:rPr>
              <a:t>    sheet = parse_sheet(raw_text)</a:t>
            </a:r>
            <a:endParaRPr lang="en-US" sz="1100" dirty="0"/>
          </a:p>
          <a:p>
            <a:pPr marL="0" indent="0">
              <a:buNone/>
            </a:pPr>
            <a:r>
              <a:rPr lang="en-US" sz="1100" dirty="0">
                <a:solidFill>
                  <a:srgbClr val="F3EBDD"/>
                </a:solidFill>
                <a:latin typeface="Courier New" pitchFamily="34" charset="0"/>
                <a:ea typeface="Courier New" pitchFamily="34" charset="-122"/>
                <a:cs typeface="Courier New" pitchFamily="34" charset="-120"/>
              </a:rPr>
              <a:t>except ValueError as error:</a:t>
            </a:r>
            <a:endParaRPr lang="en-US" sz="1100" dirty="0"/>
          </a:p>
          <a:p>
            <a:pPr marL="0" indent="0">
              <a:buNone/>
            </a:pPr>
            <a:r>
              <a:rPr lang="en-US" sz="1100" dirty="0">
                <a:solidFill>
                  <a:srgbClr val="F3EBDD"/>
                </a:solidFill>
                <a:latin typeface="Courier New" pitchFamily="34" charset="0"/>
                <a:ea typeface="Courier New" pitchFamily="34" charset="-122"/>
                <a:cs typeface="Courier New" pitchFamily="34" charset="-120"/>
              </a:rPr>
              <a:t>    return "", None, f"Input problem: {error}"</a:t>
            </a:r>
            <a:endParaRPr lang="en-US" sz="1100" dirty="0"/>
          </a:p>
        </p:txBody>
      </p:sp>
      <p:sp>
        <p:nvSpPr>
          <p:cNvPr id="21" name="Audio strip"/>
          <p:cNvSpPr/>
          <p:nvPr/>
        </p:nvSpPr>
        <p:spPr>
          <a:xfrm>
            <a:off x="457200" y="4114800"/>
            <a:ext cx="8229600" cy="502920"/>
          </a:xfrm>
          <a:prstGeom prst="roundRect">
            <a:avLst>
              <a:gd name="adj" fmla="val 18182"/>
            </a:avLst>
          </a:prstGeom>
          <a:solidFill>
            <a:srgbClr val="F1E4CC"/>
          </a:solidFill>
          <a:ln/>
        </p:spPr>
        <p:txBody>
          <a:bodyPr/>
          <a:lstStyle/>
          <a:p>
            <a:endParaRPr lang="es-ES"/>
          </a:p>
        </p:txBody>
      </p:sp>
      <p:pic>
        <p:nvPicPr>
          <p:cNvPr id="22"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94360" y="4160520"/>
            <a:ext cx="411480" cy="411480"/>
          </a:xfrm>
          <a:prstGeom prst="rect">
            <a:avLst/>
          </a:prstGeom>
        </p:spPr>
      </p:pic>
      <p:sp>
        <p:nvSpPr>
          <p:cNvPr id="23" name="Text 20"/>
          <p:cNvSpPr txBox="1"/>
          <p:nvPr/>
        </p:nvSpPr>
        <p:spPr>
          <a:xfrm>
            <a:off x="1143000" y="4114800"/>
            <a:ext cx="7406640" cy="502920"/>
          </a:xfrm>
          <a:prstGeom prst="rect">
            <a:avLst/>
          </a:prstGeom>
          <a:noFill/>
          <a:ln/>
        </p:spPr>
        <p:txBody>
          <a:bodyPr wrap="square" lIns="0" tIns="0" rIns="0" bIns="0" rtlCol="0" anchor="ctr"/>
          <a:lstStyle/>
          <a:p>
            <a:pPr marL="0" indent="0">
              <a:buNone/>
            </a:pPr>
            <a:r>
              <a:rPr lang="en-US" sz="1400" b="1" dirty="0">
                <a:solidFill>
                  <a:srgbClr val="1E2230"/>
                </a:solidFill>
                <a:latin typeface="Calibri" pitchFamily="34" charset="0"/>
                <a:ea typeface="Calibri" pitchFamily="34" charset="-122"/>
                <a:cs typeface="Calibri" pitchFamily="34" charset="-120"/>
              </a:rPr>
              <a:t>Last real run: </a:t>
            </a:r>
            <a:r>
              <a:rPr lang="en-US" sz="1400" dirty="0">
                <a:solidFill>
                  <a:srgbClr val="1E2230"/>
                </a:solidFill>
                <a:latin typeface="Calibri" pitchFamily="34" charset="0"/>
                <a:ea typeface="Calibri" pitchFamily="34" charset="-122"/>
                <a:cs typeface="Calibri" pitchFamily="34" charset="-120"/>
              </a:rPr>
              <a:t>a 569-word script became a 3:47 audio. Click the speaker to hear a 35-second excerpt.</a:t>
            </a:r>
            <a:endParaRPr lang="en-US" sz="1400" dirty="0"/>
          </a:p>
        </p:txBody>
      </p:sp>
      <p:sp>
        <p:nvSpPr>
          <p:cNvPr id="24" name="Footer"/>
          <p:cNvSpPr txBox="1"/>
          <p:nvPr/>
        </p:nvSpPr>
        <p:spPr>
          <a:xfrm>
            <a:off x="457200" y="4709160"/>
            <a:ext cx="4572000" cy="274320"/>
          </a:xfrm>
          <a:prstGeom prst="rect">
            <a:avLst/>
          </a:prstGeom>
          <a:noFill/>
          <a:ln/>
        </p:spPr>
        <p:txBody>
          <a:bodyPr wrap="square" lIns="0" tIns="0" rIns="0" bIns="0" rtlCol="0" anchor="ctr"/>
          <a:lstStyle/>
          <a:p>
            <a:pPr marL="0" indent="0">
              <a:buNone/>
            </a:pPr>
            <a:r>
              <a:rPr lang="en-US" sz="1000" dirty="0">
                <a:solidFill>
                  <a:srgbClr val="4A4F5E"/>
                </a:solidFill>
                <a:latin typeface="Calibri" pitchFamily="34" charset="0"/>
                <a:ea typeface="Calibri" pitchFamily="34" charset="-122"/>
                <a:cs typeface="Calibri" pitchFamily="34" charset="-120"/>
              </a:rPr>
              <a:t>Podcast Studio · Jaime Gárate</a:t>
            </a:r>
            <a:endParaRPr lang="en-US" sz="1000" dirty="0"/>
          </a:p>
        </p:txBody>
      </p:sp>
      <p:sp>
        <p:nvSpPr>
          <p:cNvPr id="25" name="Page number"/>
          <p:cNvSpPr txBox="1"/>
          <p:nvPr/>
        </p:nvSpPr>
        <p:spPr>
          <a:xfrm>
            <a:off x="7772400" y="4709160"/>
            <a:ext cx="914400" cy="274320"/>
          </a:xfrm>
          <a:prstGeom prst="rect">
            <a:avLst/>
          </a:prstGeom>
          <a:noFill/>
          <a:ln/>
        </p:spPr>
        <p:txBody>
          <a:bodyPr wrap="square" lIns="0" tIns="0" rIns="0" bIns="0" rtlCol="0" anchor="ctr"/>
          <a:lstStyle/>
          <a:p>
            <a:pPr marL="0" indent="0" algn="r">
              <a:buNone/>
            </a:pPr>
            <a:r>
              <a:rPr lang="en-US" sz="1000" dirty="0">
                <a:solidFill>
                  <a:srgbClr val="4A4F5E"/>
                </a:solidFill>
                <a:latin typeface="Calibri" pitchFamily="34" charset="0"/>
                <a:ea typeface="Calibri" pitchFamily="34" charset="-122"/>
                <a:cs typeface="Calibri" pitchFamily="34" charset="-120"/>
              </a:rPr>
              <a:t>4 / 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A640"/>
        </a:solidFill>
        <a:effectLst/>
      </p:bgPr>
    </p:bg>
    <p:spTree>
      <p:nvGrpSpPr>
        <p:cNvPr id="1" name=""/>
        <p:cNvGrpSpPr/>
        <p:nvPr/>
      </p:nvGrpSpPr>
      <p:grpSpPr>
        <a:xfrm>
          <a:off x="0" y="0"/>
          <a:ext cx="0" cy="0"/>
          <a:chOff x="0" y="0"/>
          <a:chExt cx="0" cy="0"/>
        </a:xfrm>
      </p:grpSpPr>
      <p:sp>
        <p:nvSpPr>
          <p:cNvPr id="2" name="Eyebrow"/>
          <p:cNvSpPr txBox="1"/>
          <p:nvPr/>
        </p:nvSpPr>
        <p:spPr>
          <a:xfrm>
            <a:off x="457200" y="365760"/>
            <a:ext cx="5486400" cy="274320"/>
          </a:xfrm>
          <a:prstGeom prst="rect">
            <a:avLst/>
          </a:prstGeom>
          <a:noFill/>
          <a:ln/>
        </p:spPr>
        <p:txBody>
          <a:bodyPr wrap="square" lIns="0" tIns="0" rIns="0" bIns="0" rtlCol="0" anchor="ctr"/>
          <a:lstStyle/>
          <a:p>
            <a:pPr marL="0" indent="0">
              <a:buNone/>
            </a:pPr>
            <a:r>
              <a:rPr lang="en-US" sz="1200" b="1" kern="0" spc="300" dirty="0">
                <a:solidFill>
                  <a:srgbClr val="1E2230"/>
                </a:solidFill>
                <a:latin typeface="Calibri" pitchFamily="34" charset="0"/>
                <a:ea typeface="Calibri" pitchFamily="34" charset="-122"/>
                <a:cs typeface="Calibri" pitchFamily="34" charset="-120"/>
              </a:rPr>
              <a:t>TAKEAWAYS</a:t>
            </a:r>
            <a:endParaRPr lang="en-US" sz="1200" dirty="0"/>
          </a:p>
        </p:txBody>
      </p:sp>
      <p:sp>
        <p:nvSpPr>
          <p:cNvPr id="3" name="Title"/>
          <p:cNvSpPr txBox="1"/>
          <p:nvPr/>
        </p:nvSpPr>
        <p:spPr>
          <a:xfrm>
            <a:off x="457200" y="685800"/>
            <a:ext cx="8229600" cy="822960"/>
          </a:xfrm>
          <a:prstGeom prst="rect">
            <a:avLst/>
          </a:prstGeom>
          <a:noFill/>
          <a:ln/>
        </p:spPr>
        <p:txBody>
          <a:bodyPr wrap="square" lIns="0" tIns="0" rIns="0" bIns="0" rtlCol="0" anchor="t"/>
          <a:lstStyle/>
          <a:p>
            <a:pPr marL="0" indent="0">
              <a:buNone/>
            </a:pPr>
            <a:r>
              <a:rPr lang="en-US" sz="3000" b="1" dirty="0">
                <a:solidFill>
                  <a:srgbClr val="1E2230"/>
                </a:solidFill>
                <a:latin typeface="Cambria" pitchFamily="34" charset="0"/>
                <a:ea typeface="Cambria" pitchFamily="34" charset="-122"/>
                <a:cs typeface="Cambria" pitchFamily="34" charset="-120"/>
              </a:rPr>
              <a:t>What I learned and what I delivered</a:t>
            </a:r>
            <a:endParaRPr lang="en-US" sz="3000" dirty="0"/>
          </a:p>
        </p:txBody>
      </p:sp>
      <p:sp>
        <p:nvSpPr>
          <p:cNvPr id="4" name="Learned card"/>
          <p:cNvSpPr/>
          <p:nvPr/>
        </p:nvSpPr>
        <p:spPr>
          <a:xfrm>
            <a:off x="457200" y="1600200"/>
            <a:ext cx="4023360" cy="2651760"/>
          </a:xfrm>
          <a:prstGeom prst="roundRect">
            <a:avLst>
              <a:gd name="adj" fmla="val 4138"/>
            </a:avLst>
          </a:prstGeom>
          <a:solidFill>
            <a:srgbClr val="FBF5EA"/>
          </a:solidFill>
          <a:ln/>
        </p:spPr>
        <p:txBody>
          <a:bodyPr/>
          <a:lstStyle/>
          <a:p>
            <a:endParaRPr lang="es-ES"/>
          </a:p>
        </p:txBody>
      </p:sp>
      <p:sp>
        <p:nvSpPr>
          <p:cNvPr id="5" name="Text 3"/>
          <p:cNvSpPr txBox="1"/>
          <p:nvPr/>
        </p:nvSpPr>
        <p:spPr>
          <a:xfrm>
            <a:off x="685800" y="1737360"/>
            <a:ext cx="3566160" cy="365760"/>
          </a:xfrm>
          <a:prstGeom prst="rect">
            <a:avLst/>
          </a:prstGeom>
          <a:noFill/>
          <a:ln/>
        </p:spPr>
        <p:txBody>
          <a:bodyPr wrap="square" lIns="0" tIns="0" rIns="0" bIns="0" rtlCol="0" anchor="ctr"/>
          <a:lstStyle/>
          <a:p>
            <a:pPr marL="0" indent="0">
              <a:buNone/>
            </a:pPr>
            <a:r>
              <a:rPr lang="en-US" sz="2000" b="1" dirty="0">
                <a:solidFill>
                  <a:srgbClr val="9A4F12"/>
                </a:solidFill>
                <a:latin typeface="Cambria" pitchFamily="34" charset="0"/>
                <a:ea typeface="Cambria" pitchFamily="34" charset="-122"/>
                <a:cs typeface="Cambria" pitchFamily="34" charset="-120"/>
              </a:rPr>
              <a:t>What I learned</a:t>
            </a:r>
            <a:endParaRPr lang="en-US" sz="2000" dirty="0"/>
          </a:p>
        </p:txBody>
      </p:sp>
      <p:sp>
        <p:nvSpPr>
          <p:cNvPr id="6" name="Text 4"/>
          <p:cNvSpPr txBox="1"/>
          <p:nvPr/>
        </p:nvSpPr>
        <p:spPr>
          <a:xfrm>
            <a:off x="685800" y="2194560"/>
            <a:ext cx="361188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230"/>
                </a:solidFill>
                <a:latin typeface="Calibri" pitchFamily="34" charset="0"/>
                <a:ea typeface="Calibri" pitchFamily="34" charset="-122"/>
                <a:cs typeface="Calibri" pitchFamily="34" charset="-120"/>
              </a:rPr>
              <a:t>Test each step on its own before joining them</a:t>
            </a:r>
            <a:endParaRPr lang="en-US" sz="1400" dirty="0"/>
          </a:p>
          <a:p>
            <a:pPr marL="342900" indent="-342900">
              <a:spcAft>
                <a:spcPts val="600"/>
              </a:spcAft>
              <a:buSzPct val="100000"/>
              <a:buChar char="•"/>
            </a:pPr>
            <a:r>
              <a:rPr lang="en-US" sz="1400" dirty="0">
                <a:solidFill>
                  <a:srgbClr val="1E2230"/>
                </a:solidFill>
                <a:latin typeface="Calibri" pitchFamily="34" charset="0"/>
                <a:ea typeface="Calibri" pitchFamily="34" charset="-122"/>
                <a:cs typeface="Calibri" pitchFamily="34" charset="-120"/>
              </a:rPr>
              <a:t>Services can fail, so a good pipeline has backups</a:t>
            </a:r>
            <a:endParaRPr lang="en-US" sz="1400" dirty="0"/>
          </a:p>
          <a:p>
            <a:pPr marL="342900" indent="-342900">
              <a:spcAft>
                <a:spcPts val="600"/>
              </a:spcAft>
              <a:buSzPct val="100000"/>
              <a:buChar char="•"/>
            </a:pPr>
            <a:r>
              <a:rPr lang="en-US" sz="1400" dirty="0">
                <a:solidFill>
                  <a:srgbClr val="1E2230"/>
                </a:solidFill>
                <a:latin typeface="Calibri" pitchFamily="34" charset="0"/>
                <a:ea typeface="Calibri" pitchFamily="34" charset="-122"/>
                <a:cs typeface="Calibri" pitchFamily="34" charset="-120"/>
              </a:rPr>
              <a:t>Match the voice and the tone to the content</a:t>
            </a:r>
            <a:endParaRPr lang="en-US" sz="1400" dirty="0"/>
          </a:p>
          <a:p>
            <a:pPr marL="342900" indent="-342900">
              <a:spcAft>
                <a:spcPts val="600"/>
              </a:spcAft>
              <a:buSzPct val="100000"/>
              <a:buChar char="•"/>
            </a:pPr>
            <a:r>
              <a:rPr lang="en-US" sz="1400" dirty="0">
                <a:solidFill>
                  <a:srgbClr val="1E2230"/>
                </a:solidFill>
                <a:latin typeface="Calibri" pitchFamily="34" charset="0"/>
                <a:ea typeface="Calibri" pitchFamily="34" charset="-122"/>
                <a:cs typeface="Calibri" pitchFamily="34" charset="-120"/>
              </a:rPr>
              <a:t>Small, clear commits tell the story of a project</a:t>
            </a:r>
            <a:endParaRPr lang="en-US" sz="1400" dirty="0"/>
          </a:p>
        </p:txBody>
      </p:sp>
      <p:sp>
        <p:nvSpPr>
          <p:cNvPr id="7" name="Delivered card"/>
          <p:cNvSpPr/>
          <p:nvPr/>
        </p:nvSpPr>
        <p:spPr>
          <a:xfrm>
            <a:off x="4663440" y="1600200"/>
            <a:ext cx="4023360" cy="2651760"/>
          </a:xfrm>
          <a:prstGeom prst="roundRect">
            <a:avLst>
              <a:gd name="adj" fmla="val 4138"/>
            </a:avLst>
          </a:prstGeom>
          <a:solidFill>
            <a:srgbClr val="1E2230"/>
          </a:solidFill>
          <a:ln/>
        </p:spPr>
        <p:txBody>
          <a:bodyPr/>
          <a:lstStyle/>
          <a:p>
            <a:endParaRPr lang="es-ES"/>
          </a:p>
        </p:txBody>
      </p:sp>
      <p:sp>
        <p:nvSpPr>
          <p:cNvPr id="8" name="Text 6"/>
          <p:cNvSpPr txBox="1"/>
          <p:nvPr/>
        </p:nvSpPr>
        <p:spPr>
          <a:xfrm>
            <a:off x="4892040" y="1737360"/>
            <a:ext cx="3566160" cy="365760"/>
          </a:xfrm>
          <a:prstGeom prst="rect">
            <a:avLst/>
          </a:prstGeom>
          <a:noFill/>
          <a:ln/>
        </p:spPr>
        <p:txBody>
          <a:bodyPr wrap="square" lIns="0" tIns="0" rIns="0" bIns="0" rtlCol="0" anchor="ctr"/>
          <a:lstStyle/>
          <a:p>
            <a:pPr marL="0" indent="0">
              <a:buNone/>
            </a:pPr>
            <a:r>
              <a:rPr lang="en-US" sz="2000" b="1" dirty="0">
                <a:solidFill>
                  <a:srgbClr val="E8A640"/>
                </a:solidFill>
                <a:latin typeface="Cambria" pitchFamily="34" charset="0"/>
                <a:ea typeface="Cambria" pitchFamily="34" charset="-122"/>
                <a:cs typeface="Cambria" pitchFamily="34" charset="-120"/>
              </a:rPr>
              <a:t>What I delivered</a:t>
            </a:r>
            <a:endParaRPr lang="en-US" sz="2000" dirty="0"/>
          </a:p>
        </p:txBody>
      </p:sp>
      <p:sp>
        <p:nvSpPr>
          <p:cNvPr id="9" name="Text 7"/>
          <p:cNvSpPr txBox="1"/>
          <p:nvPr/>
        </p:nvSpPr>
        <p:spPr>
          <a:xfrm>
            <a:off x="4892040" y="2194560"/>
            <a:ext cx="361188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3EBDD"/>
                </a:solidFill>
                <a:latin typeface="Calibri" pitchFamily="34" charset="0"/>
                <a:ea typeface="Calibri" pitchFamily="34" charset="-122"/>
                <a:cs typeface="Calibri" pitchFamily="34" charset="-120"/>
              </a:rPr>
              <a:t>Text in, audio out, in one click</a:t>
            </a:r>
            <a:endParaRPr lang="en-US" sz="1400" dirty="0"/>
          </a:p>
          <a:p>
            <a:pPr marL="342900" indent="-342900">
              <a:spcAft>
                <a:spcPts val="600"/>
              </a:spcAft>
              <a:buSzPct val="100000"/>
              <a:buChar char="•"/>
            </a:pPr>
            <a:r>
              <a:rPr lang="en-US" sz="1400" dirty="0">
                <a:solidFill>
                  <a:srgbClr val="F3EBDD"/>
                </a:solidFill>
                <a:latin typeface="Calibri" pitchFamily="34" charset="0"/>
                <a:ea typeface="Calibri" pitchFamily="34" charset="-122"/>
                <a:cs typeface="Calibri" pitchFamily="34" charset="-120"/>
              </a:rPr>
              <a:t>Clear messages instead of crashes</a:t>
            </a:r>
            <a:endParaRPr lang="en-US" sz="1400" dirty="0"/>
          </a:p>
          <a:p>
            <a:pPr marL="342900" indent="-342900">
              <a:spcAft>
                <a:spcPts val="600"/>
              </a:spcAft>
              <a:buSzPct val="100000"/>
              <a:buChar char="•"/>
            </a:pPr>
            <a:r>
              <a:rPr lang="en-US" sz="1400" dirty="0">
                <a:solidFill>
                  <a:srgbClr val="F3EBDD"/>
                </a:solidFill>
                <a:latin typeface="Calibri" pitchFamily="34" charset="0"/>
                <a:ea typeface="Calibri" pitchFamily="34" charset="-122"/>
                <a:cs typeface="Calibri" pitchFamily="34" charset="-120"/>
              </a:rPr>
              <a:t>9 automatic tests and 10 commits</a:t>
            </a:r>
            <a:endParaRPr lang="en-US" sz="1400" dirty="0"/>
          </a:p>
          <a:p>
            <a:pPr marL="342900" indent="-342900">
              <a:spcAft>
                <a:spcPts val="600"/>
              </a:spcAft>
              <a:buSzPct val="100000"/>
              <a:buChar char="•"/>
            </a:pPr>
            <a:r>
              <a:rPr lang="en-US" sz="1400" dirty="0">
                <a:solidFill>
                  <a:srgbClr val="F3EBDD"/>
                </a:solidFill>
                <a:latin typeface="Calibri" pitchFamily="34" charset="0"/>
                <a:ea typeface="Calibri" pitchFamily="34" charset="-122"/>
                <a:cs typeface="Calibri" pitchFamily="34" charset="-120"/>
              </a:rPr>
              <a:t>A public GitHub repo with README in English and Spanish, and an example audio</a:t>
            </a:r>
            <a:endParaRPr lang="en-US" sz="1400" dirty="0"/>
          </a:p>
        </p:txBody>
      </p:sp>
      <p:sp>
        <p:nvSpPr>
          <p:cNvPr id="10" name="Closing line"/>
          <p:cNvSpPr txBox="1"/>
          <p:nvPr/>
        </p:nvSpPr>
        <p:spPr>
          <a:xfrm>
            <a:off x="457200" y="4434840"/>
            <a:ext cx="7315200" cy="320040"/>
          </a:xfrm>
          <a:prstGeom prst="rect">
            <a:avLst/>
          </a:prstGeom>
          <a:noFill/>
          <a:ln/>
        </p:spPr>
        <p:txBody>
          <a:bodyPr wrap="square" lIns="0" tIns="0" rIns="0" bIns="0" rtlCol="0" anchor="ctr"/>
          <a:lstStyle/>
          <a:p>
            <a:pPr marL="0" indent="0">
              <a:buNone/>
            </a:pPr>
            <a:r>
              <a:rPr lang="en-US" sz="1400" b="1" dirty="0">
                <a:solidFill>
                  <a:srgbClr val="1E2230"/>
                </a:solidFill>
                <a:latin typeface="Calibri" pitchFamily="34" charset="0"/>
                <a:ea typeface="Calibri" pitchFamily="34" charset="-122"/>
                <a:cs typeface="Calibri" pitchFamily="34" charset="-120"/>
              </a:rPr>
              <a:t>Thank you · Questions? · github.com/jaimegmarquerie-ui/podcast_studio</a:t>
            </a:r>
            <a:endParaRPr lang="en-US" sz="1400" dirty="0"/>
          </a:p>
        </p:txBody>
      </p:sp>
      <p:sp>
        <p:nvSpPr>
          <p:cNvPr id="11" name="Text 9"/>
          <p:cNvSpPr txBox="1"/>
          <p:nvPr/>
        </p:nvSpPr>
        <p:spPr>
          <a:xfrm>
            <a:off x="7772400" y="4709160"/>
            <a:ext cx="914400" cy="274320"/>
          </a:xfrm>
          <a:prstGeom prst="rect">
            <a:avLst/>
          </a:prstGeom>
          <a:noFill/>
          <a:ln/>
        </p:spPr>
        <p:txBody>
          <a:bodyPr wrap="square" lIns="0" tIns="0" rIns="0" bIns="0" rtlCol="0" anchor="ctr"/>
          <a:lstStyle/>
          <a:p>
            <a:pPr marL="0" indent="0" algn="r">
              <a:buNone/>
            </a:pPr>
            <a:r>
              <a:rPr lang="en-US" sz="1000" dirty="0">
                <a:solidFill>
                  <a:srgbClr val="1E2230"/>
                </a:solidFill>
                <a:latin typeface="Calibri" pitchFamily="34" charset="0"/>
                <a:ea typeface="Calibri" pitchFamily="34" charset="-122"/>
                <a:cs typeface="Calibri" pitchFamily="34" charset="-120"/>
              </a:rPr>
              <a:t>5 / 5</a:t>
            </a:r>
            <a:endParaRPr lang="en-US" sz="1000" dirty="0"/>
          </a:p>
        </p:txBody>
      </p:sp>
    </p:spTree>
  </p:cSld>
  <p:clrMapOvr>
    <a:masterClrMapping/>
  </p:clrMapOvr>
</p:sld>
</file>

<file path=ppt/theme/theme1.xml><?xml version="1.0" encoding="utf-8"?>
<a:theme xmlns:a="http://schemas.openxmlformats.org/drawingml/2006/main" name="Podcast Studio">
  <a:themeElements>
    <a:clrScheme name="Podcast Studio">
      <a:dk1>
        <a:srgbClr val="1E2230"/>
      </a:dk1>
      <a:lt1>
        <a:srgbClr val="FBF5EA"/>
      </a:lt1>
      <a:dk2>
        <a:srgbClr val="2A3042"/>
      </a:dk2>
      <a:lt2>
        <a:srgbClr val="F1E4CC"/>
      </a:lt2>
      <a:accent1>
        <a:srgbClr val="E8A640"/>
      </a:accent1>
      <a:accent2>
        <a:srgbClr val="9A4F12"/>
      </a:accent2>
      <a:accent3>
        <a:srgbClr val="C9C2D0"/>
      </a:accent3>
      <a:accent4>
        <a:srgbClr val="141824"/>
      </a:accent4>
      <a:accent5>
        <a:srgbClr val="4A4F5E"/>
      </a:accent5>
      <a:accent6>
        <a:srgbClr val="FFFFFF"/>
      </a:accent6>
      <a:hlink>
        <a:srgbClr val="9A4F12"/>
      </a:hlink>
      <a:folHlink>
        <a:srgbClr val="4A4F5E"/>
      </a:folHlink>
    </a:clrScheme>
    <a:fontScheme name="Podcast Studi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1348</Words>
  <Application>Microsoft Office PowerPoint</Application>
  <PresentationFormat>Presentación en pantalla (16:9)</PresentationFormat>
  <Paragraphs>82</Paragraphs>
  <Slides>5</Slides>
  <Notes>5</Notes>
  <HiddenSlides>0</HiddenSlides>
  <MMClips>1</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vt:i4>
      </vt:variant>
    </vt:vector>
  </HeadingPairs>
  <TitlesOfParts>
    <vt:vector size="10" baseType="lpstr">
      <vt:lpstr>Arial</vt:lpstr>
      <vt:lpstr>Calibri</vt:lpstr>
      <vt:lpstr>Cambria</vt:lpstr>
      <vt:lpstr>Courier New</vt:lpstr>
      <vt:lpstr>Podcast Studio</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Podcast Studio</dc:title>
  <dc:subject>PptxGenJS Presentation</dc:subject>
  <dc:creator>Jaime Gárate</dc:creator>
  <cp:lastModifiedBy>Jaime Gárate Marqueríe</cp:lastModifiedBy>
  <cp:revision>1</cp:revision>
  <dcterms:created xsi:type="dcterms:W3CDTF">2026-10-20T13:20:40Z</dcterms:created>
  <dcterms:modified xsi:type="dcterms:W3CDTF">2026-10-20T13:23:52Z</dcterms:modified>
</cp:coreProperties>
</file>